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3A"/>
                </a:solidFill>
                <a:latin typeface="Calibri"/>
              </a:defRPr>
            </a:pPr>
            <a:r>
              <a:rPr sz="1400" b="0" i="0" u="none" strike="noStrike">
                <a:solidFill>
                  <a:srgbClr val="1B2A3A"/>
                </a:solidFill>
                <a:latin typeface="Calibri"/>
              </a:rPr>
              <a:t>VREF vs. temperatura (CA1 = 1 pF, CA2 = 1.45 pF)</a:t>
            </a:r>
          </a:p>
        </c:rich>
      </c:tx>
      <c:overlay val="0"/>
    </c:title>
    <c:autoTitleDeleted val="0"/>
    <c:plotArea>
      <c:layout/>
      <c:lineChart>
        <c:grouping val="standard"/>
        <c:varyColors val="0"/>
        <c:ser>
          <c:idx val="0"/>
          <c:order val="0"/>
          <c:tx>
            <c:strRef>
              <c:f>Sheet1!$B$1</c:f>
              <c:strCache>
                <c:ptCount val="1"/>
                <c:pt idx="0">
                  <c:v>VREF</c:v>
                </c:pt>
              </c:strCache>
            </c:strRef>
          </c:tx>
          <c:spPr>
            <a:ln w="38100" cap="flat">
              <a:solidFill>
                <a:srgbClr val="0E7C86"/>
              </a:solidFill>
              <a:prstDash val="solid"/>
              <a:round/>
            </a:ln>
            <a:effectLst/>
          </c:spPr>
          <c:marker>
            <c:symbol val="circle"/>
            <c:size val="9"/>
            <c:spPr>
              <a:solidFill>
                <a:srgbClr val="0E7C86"/>
              </a:solidFill>
              <a:ln w="9525" cap="flat">
                <a:solidFill>
                  <a:srgbClr val="0E7C86"/>
                </a:solidFill>
                <a:prstDash val="solid"/>
                <a:round/>
              </a:ln>
              <a:effectLst/>
            </c:spPr>
          </c:marker>
          <c:dLbls>
            <c:numFmt formatCode="0.0" sourceLinked="0"/>
            <c:spPr>
              <a:noFill/>
              <a:ln>
                <a:noFill/>
              </a:ln>
              <a:effectLst/>
            </c:spPr>
            <c:txPr>
              <a:bodyPr/>
              <a:lstStyle/>
              <a:p>
                <a:pPr>
                  <a:defRPr sz="1100" b="0" i="0" u="none" strike="noStrike">
                    <a:solidFill>
                      <a:srgbClr val="1B2A3A"/>
                    </a:solidFill>
                    <a:latin typeface="Aria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c:v>
                </c:pt>
                <c:pt idx="1">
                  <c:v>10</c:v>
                </c:pt>
                <c:pt idx="2">
                  <c:v>25</c:v>
                </c:pt>
                <c:pt idx="3">
                  <c:v>40</c:v>
                </c:pt>
                <c:pt idx="4">
                  <c:v>50</c:v>
                </c:pt>
                <c:pt idx="5">
                  <c:v>70</c:v>
                </c:pt>
                <c:pt idx="6">
                  <c:v>85</c:v>
                </c:pt>
              </c:strCache>
            </c:strRef>
          </c:cat>
          <c:val>
            <c:numRef>
              <c:f>Sheet1!$B$2:$B$8</c:f>
              <c:numCache>
                <c:formatCode>General</c:formatCode>
                <c:ptCount val="7"/>
                <c:pt idx="0">
                  <c:v>559.85</c:v>
                </c:pt>
                <c:pt idx="1">
                  <c:v>559.4</c:v>
                </c:pt>
                <c:pt idx="2">
                  <c:v>559.6</c:v>
                </c:pt>
                <c:pt idx="3">
                  <c:v>561.1</c:v>
                </c:pt>
                <c:pt idx="4">
                  <c:v>563</c:v>
                </c:pt>
                <c:pt idx="5">
                  <c:v>567.20000000000005</c:v>
                </c:pt>
                <c:pt idx="6">
                  <c:v>578.70000000000005</c:v>
                </c:pt>
              </c:numCache>
            </c:numRef>
          </c:val>
          <c:smooth val="0"/>
          <c:extLst>
            <c:ext xmlns:c16="http://schemas.microsoft.com/office/drawing/2014/chart" uri="{C3380CC4-5D6E-409C-BE32-E72D297353CC}">
              <c16:uniqueId val="{00000000-CED5-4ADF-B6A7-31DFF8496D41}"/>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B6B7B"/>
                    </a:solidFill>
                    <a:latin typeface="Arial"/>
                  </a:defRPr>
                </a:pPr>
                <a:r>
                  <a:rPr sz="1100" b="0" i="0" u="none" strike="noStrike">
                    <a:solidFill>
                      <a:srgbClr val="5B6B7B"/>
                    </a:solidFill>
                    <a:latin typeface="Arial"/>
                  </a:rPr>
                  <a:t>Temperatura (°C)</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Arial"/>
              </a:defRPr>
            </a:pPr>
            <a:endParaRPr lang="en-US"/>
          </a:p>
        </c:txPr>
        <c:crossAx val="2094734552"/>
        <c:crosses val="autoZero"/>
        <c:auto val="1"/>
        <c:lblAlgn val="ctr"/>
        <c:lblOffset val="100"/>
        <c:noMultiLvlLbl val="1"/>
      </c:catAx>
      <c:valAx>
        <c:axId val="2094734552"/>
        <c:scaling>
          <c:orientation val="minMax"/>
          <c:max val="585"/>
          <c:min val="550"/>
        </c:scaling>
        <c:delete val="0"/>
        <c:axPos val="l"/>
        <c:majorGridlines>
          <c:spPr>
            <a:ln w="6350" cap="flat">
              <a:solidFill>
                <a:srgbClr val="E2E8F0"/>
              </a:solidFill>
              <a:prstDash val="solid"/>
              <a:round/>
            </a:ln>
          </c:spPr>
        </c:majorGridlines>
        <c:title>
          <c:tx>
            <c:rich>
              <a:bodyPr/>
              <a:lstStyle/>
              <a:p>
                <a:pPr>
                  <a:defRPr sz="1100" b="0" i="0" u="none" strike="noStrike">
                    <a:solidFill>
                      <a:srgbClr val="5B6B7B"/>
                    </a:solidFill>
                    <a:latin typeface="Arial"/>
                  </a:defRPr>
                </a:pPr>
                <a:r>
                  <a:rPr sz="1100" b="0" i="0" u="none" strike="noStrike">
                    <a:solidFill>
                      <a:srgbClr val="5B6B7B"/>
                    </a:solidFill>
                    <a:latin typeface="Arial"/>
                  </a:rPr>
                  <a:t>VREF (mV)</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2A3A"/>
                </a:solidFill>
                <a:latin typeface="Calibri"/>
              </a:defRPr>
            </a:pPr>
            <a:r>
              <a:rPr sz="1400" b="0" i="0" u="none" strike="noStrike">
                <a:solidFill>
                  <a:srgbClr val="1B2A3A"/>
                </a:solidFill>
                <a:latin typeface="Calibri"/>
              </a:rPr>
              <a:t>Cambio al pasar VDD de 1.10 V a 1.20 V (mV)</a:t>
            </a:r>
          </a:p>
        </c:rich>
      </c:tx>
      <c:overlay val="0"/>
    </c:title>
    <c:autoTitleDeleted val="0"/>
    <c:plotArea>
      <c:layout/>
      <c:barChart>
        <c:barDir val="col"/>
        <c:grouping val="clustered"/>
        <c:varyColors val="0"/>
        <c:ser>
          <c:idx val="0"/>
          <c:order val="0"/>
          <c:tx>
            <c:strRef>
              <c:f>Sheet1!$B$1</c:f>
              <c:strCache>
                <c:ptCount val="1"/>
                <c:pt idx="0">
                  <c:v>Cambio</c:v>
                </c:pt>
              </c:strCache>
            </c:strRef>
          </c:tx>
          <c:spPr>
            <a:solidFill>
              <a:srgbClr val="C77D12"/>
            </a:solidFill>
            <a:effectLst/>
          </c:spPr>
          <c:invertIfNegative val="0"/>
          <c:dPt>
            <c:idx val="0"/>
            <c:invertIfNegative val="0"/>
            <c:bubble3D val="0"/>
            <c:extLst>
              <c:ext xmlns:c16="http://schemas.microsoft.com/office/drawing/2014/chart" uri="{C3380CC4-5D6E-409C-BE32-E72D297353CC}">
                <c16:uniqueId val="{00000001-F869-4A7B-BF49-B28655ACFA63}"/>
              </c:ext>
            </c:extLst>
          </c:dPt>
          <c:dPt>
            <c:idx val="1"/>
            <c:invertIfNegative val="0"/>
            <c:bubble3D val="0"/>
            <c:spPr>
              <a:solidFill>
                <a:srgbClr val="0E7C86"/>
              </a:solidFill>
              <a:effectLst/>
            </c:spPr>
            <c:extLst>
              <c:ext xmlns:c16="http://schemas.microsoft.com/office/drawing/2014/chart" uri="{C3380CC4-5D6E-409C-BE32-E72D297353CC}">
                <c16:uniqueId val="{00000003-F869-4A7B-BF49-B28655ACFA63}"/>
              </c:ext>
            </c:extLst>
          </c:dPt>
          <c:dPt>
            <c:idx val="2"/>
            <c:invertIfNegative val="0"/>
            <c:bubble3D val="0"/>
            <c:spPr>
              <a:solidFill>
                <a:srgbClr val="0E7C86"/>
              </a:solidFill>
              <a:effectLst/>
            </c:spPr>
            <c:extLst>
              <c:ext xmlns:c16="http://schemas.microsoft.com/office/drawing/2014/chart" uri="{C3380CC4-5D6E-409C-BE32-E72D297353CC}">
                <c16:uniqueId val="{00000005-F869-4A7B-BF49-B28655ACFA63}"/>
              </c:ext>
            </c:extLst>
          </c:dPt>
          <c:dLbls>
            <c:numFmt formatCode="0.00" sourceLinked="0"/>
            <c:spPr>
              <a:noFill/>
              <a:ln>
                <a:noFill/>
              </a:ln>
              <a:effectLst/>
            </c:spPr>
            <c:txPr>
              <a:bodyPr/>
              <a:lstStyle/>
              <a:p>
                <a:pPr>
                  <a:defRPr sz="1300" b="0" i="0" u="none" strike="noStrike">
                    <a:solidFill>
                      <a:srgbClr val="1B2A3A"/>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VREF</c:v>
                </c:pt>
                <c:pt idx="1">
                  <c:v>VBE1</c:v>
                </c:pt>
                <c:pt idx="2">
                  <c:v>|ΔVBE|</c:v>
                </c:pt>
              </c:strCache>
            </c:strRef>
          </c:cat>
          <c:val>
            <c:numRef>
              <c:f>Sheet1!$B$2:$B$4</c:f>
              <c:numCache>
                <c:formatCode>General</c:formatCode>
                <c:ptCount val="3"/>
                <c:pt idx="0">
                  <c:v>53.03</c:v>
                </c:pt>
                <c:pt idx="1">
                  <c:v>0.74</c:v>
                </c:pt>
                <c:pt idx="2">
                  <c:v>0.17</c:v>
                </c:pt>
              </c:numCache>
            </c:numRef>
          </c:val>
          <c:extLst>
            <c:ext xmlns:c16="http://schemas.microsoft.com/office/drawing/2014/chart" uri="{C3380CC4-5D6E-409C-BE32-E72D297353CC}">
              <c16:uniqueId val="{00000006-F869-4A7B-BF49-B28655ACFA6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3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80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estado de avance del bandgap de capacitores conmutados en IHP SG13G2. La arquitectura sigue el paper 5.4 de ISSCC 2015 (A 32nW Bandgap Reference Voltage Operational from 0.5V Supply).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ecuación es la del paper (Fig. 5.4.2). Durante φ2 los capacitores CB se cargan en paralelo con ΔVBE; durante φ1 se conectan en serie y aportan 3ΔVBE. El nodo CTAT se genera por reparto de carga entre CA1 y CA2.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CA2 = 1.45 pF surgió de barridos con 1.4 y 1.5 pF. La cifra en ppm/°C es un cálculo propio: 3.6 mV / (559.6 mV × 50 °C). El paper reporta 75–125 ppm/°C medidos en 6 chips entre 0 y 80 °C.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VBE1 y ΔVBE casi no dependen de VDD, por lo que el problema no está en los bipolares. La rama PTAT medida supera al valor ideal en 40–47 mV.</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 incorporó current mirror ni la segunda etapa del paper: primero se busca saber cuánto mejora la arquitectura de una sola etapa optimizando switches y capacitores.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paper opera desde 0.5 V; este diseño trabaja con VDD ≥ 1.1 V por requisito de la aplicación. La sensibilidad a VDD es la principal brecha respecto del paper.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comparación antes/después debe indicar si la reducción de switches redujo la tensión espuria de la rama PTAT, la sensibilidad a VDD y el ripple, y si se mantuvo la compensación térmica.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731520" y="1737360"/>
            <a:ext cx="6949440" cy="22860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Referencia bandgap de baja potencia con capacitores conmutados</a:t>
            </a:r>
            <a:endParaRPr lang="en-US" sz="4000" dirty="0"/>
          </a:p>
        </p:txBody>
      </p:sp>
      <p:sp>
        <p:nvSpPr>
          <p:cNvPr id="3" name="Text 1"/>
          <p:cNvSpPr txBox="1"/>
          <p:nvPr/>
        </p:nvSpPr>
        <p:spPr>
          <a:xfrm>
            <a:off x="731520" y="4206240"/>
            <a:ext cx="6949440" cy="457200"/>
          </a:xfrm>
          <a:prstGeom prst="rect">
            <a:avLst/>
          </a:prstGeom>
          <a:noFill/>
          <a:ln/>
        </p:spPr>
        <p:txBody>
          <a:bodyPr wrap="square" lIns="0" tIns="0" rIns="0" bIns="0" rtlCol="0" anchor="ctr"/>
          <a:lstStyle/>
          <a:p>
            <a:pPr marL="0" indent="0">
              <a:buNone/>
            </a:pPr>
            <a:r>
              <a:rPr lang="en-US" sz="2200" dirty="0">
                <a:solidFill>
                  <a:srgbClr val="6FD3C8"/>
                </a:solidFill>
                <a:latin typeface="Calibri" pitchFamily="34" charset="0"/>
                <a:ea typeface="Calibri" pitchFamily="34" charset="-122"/>
                <a:cs typeface="Calibri" pitchFamily="34" charset="-120"/>
              </a:rPr>
              <a:t>Informe de estado de avance</a:t>
            </a:r>
            <a:endParaRPr lang="en-US" sz="2200" dirty="0"/>
          </a:p>
        </p:txBody>
      </p:sp>
      <p:sp>
        <p:nvSpPr>
          <p:cNvPr id="4" name="Text 2"/>
          <p:cNvSpPr txBox="1"/>
          <p:nvPr/>
        </p:nvSpPr>
        <p:spPr>
          <a:xfrm>
            <a:off x="731520" y="4709160"/>
            <a:ext cx="6949440" cy="548640"/>
          </a:xfrm>
          <a:prstGeom prst="rect">
            <a:avLst/>
          </a:prstGeom>
          <a:noFill/>
          <a:ln/>
        </p:spPr>
        <p:txBody>
          <a:bodyPr wrap="square" lIns="0" tIns="0" rIns="0" bIns="0" rtlCol="0" anchor="ctr"/>
          <a:lstStyle/>
          <a:p>
            <a:pPr marL="0" indent="0">
              <a:buNone/>
            </a:pPr>
            <a:r>
              <a:rPr lang="en-US" sz="1600" dirty="0">
                <a:solidFill>
                  <a:srgbClr val="A9C1DE"/>
                </a:solidFill>
                <a:latin typeface="Calibri" pitchFamily="34" charset="0"/>
                <a:ea typeface="Calibri" pitchFamily="34" charset="-122"/>
                <a:cs typeface="Calibri" pitchFamily="34" charset="-120"/>
              </a:rPr>
              <a:t>Tecnología IHP SG13G2 (130 nm) · Arquitectura basada en ISSCC 2015, paper 5.4</a:t>
            </a:r>
            <a:endParaRPr lang="en-US" sz="1600" dirty="0"/>
          </a:p>
        </p:txBody>
      </p:sp>
      <p:sp>
        <p:nvSpPr>
          <p:cNvPr id="5" name="Text 3"/>
          <p:cNvSpPr txBox="1"/>
          <p:nvPr/>
        </p:nvSpPr>
        <p:spPr>
          <a:xfrm>
            <a:off x="731520" y="6035040"/>
            <a:ext cx="6949440" cy="274320"/>
          </a:xfrm>
          <a:prstGeom prst="rect">
            <a:avLst/>
          </a:prstGeom>
          <a:noFill/>
          <a:ln/>
        </p:spPr>
        <p:txBody>
          <a:bodyPr wrap="square" lIns="0" tIns="0" rIns="0" bIns="0" rtlCol="0" anchor="ctr"/>
          <a:lstStyle/>
          <a:p>
            <a:pPr marL="0" indent="0">
              <a:buNone/>
            </a:pPr>
            <a:r>
              <a:rPr lang="en-US" sz="1200" dirty="0">
                <a:solidFill>
                  <a:srgbClr val="A9C1DE"/>
                </a:solidFill>
                <a:latin typeface="Calibri" pitchFamily="34" charset="0"/>
                <a:ea typeface="Calibri" pitchFamily="34" charset="-122"/>
                <a:cs typeface="Calibri" pitchFamily="34" charset="-120"/>
              </a:rPr>
              <a:t>Septiembre 2026</a:t>
            </a:r>
            <a:endParaRPr lang="en-US" sz="1200" dirty="0"/>
          </a:p>
        </p:txBody>
      </p:sp>
      <p:sp>
        <p:nvSpPr>
          <p:cNvPr id="6" name="Shape 4"/>
          <p:cNvSpPr/>
          <p:nvPr/>
        </p:nvSpPr>
        <p:spPr>
          <a:xfrm>
            <a:off x="8229600" y="1463040"/>
            <a:ext cx="3383280" cy="1371600"/>
          </a:xfrm>
          <a:prstGeom prst="roundRect">
            <a:avLst>
              <a:gd name="adj" fmla="val 8000"/>
            </a:avLst>
          </a:prstGeom>
          <a:solidFill>
            <a:srgbClr val="163A66"/>
          </a:solidFill>
          <a:ln w="12700">
            <a:solidFill>
              <a:srgbClr val="163A66"/>
            </a:solidFill>
            <a:prstDash val="solid"/>
          </a:ln>
        </p:spPr>
      </p:sp>
      <p:sp>
        <p:nvSpPr>
          <p:cNvPr id="7" name="Text 5"/>
          <p:cNvSpPr txBox="1"/>
          <p:nvPr/>
        </p:nvSpPr>
        <p:spPr>
          <a:xfrm>
            <a:off x="8458200" y="1600200"/>
            <a:ext cx="292608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1.1 V</a:t>
            </a:r>
            <a:endParaRPr lang="en-US" sz="3200" dirty="0"/>
          </a:p>
        </p:txBody>
      </p:sp>
      <p:sp>
        <p:nvSpPr>
          <p:cNvPr id="8" name="Text 6"/>
          <p:cNvSpPr txBox="1"/>
          <p:nvPr/>
        </p:nvSpPr>
        <p:spPr>
          <a:xfrm>
            <a:off x="8458200" y="2217420"/>
            <a:ext cx="2926080" cy="548640"/>
          </a:xfrm>
          <a:prstGeom prst="rect">
            <a:avLst/>
          </a:prstGeom>
          <a:noFill/>
          <a:ln/>
        </p:spPr>
        <p:txBody>
          <a:bodyPr wrap="square" lIns="0" tIns="0" rIns="0" bIns="0" rtlCol="0" anchor="t"/>
          <a:lstStyle/>
          <a:p>
            <a:pPr marL="0" indent="0">
              <a:buNone/>
            </a:pPr>
            <a:r>
              <a:rPr lang="en-US" sz="1300" dirty="0">
                <a:solidFill>
                  <a:srgbClr val="A9C1DE"/>
                </a:solidFill>
                <a:latin typeface="Calibri" pitchFamily="34" charset="0"/>
                <a:ea typeface="Calibri" pitchFamily="34" charset="-122"/>
                <a:cs typeface="Calibri" pitchFamily="34" charset="-120"/>
              </a:rPr>
              <a:t>alimentación nominal</a:t>
            </a:r>
            <a:endParaRPr lang="en-US" sz="1300" dirty="0"/>
          </a:p>
        </p:txBody>
      </p:sp>
      <p:sp>
        <p:nvSpPr>
          <p:cNvPr id="9" name="Shape 7"/>
          <p:cNvSpPr/>
          <p:nvPr/>
        </p:nvSpPr>
        <p:spPr>
          <a:xfrm>
            <a:off x="8229600" y="3017520"/>
            <a:ext cx="3383280" cy="1371600"/>
          </a:xfrm>
          <a:prstGeom prst="roundRect">
            <a:avLst>
              <a:gd name="adj" fmla="val 8000"/>
            </a:avLst>
          </a:prstGeom>
          <a:solidFill>
            <a:srgbClr val="163A66"/>
          </a:solidFill>
          <a:ln w="12700">
            <a:solidFill>
              <a:srgbClr val="163A66"/>
            </a:solidFill>
            <a:prstDash val="solid"/>
          </a:ln>
        </p:spPr>
      </p:sp>
      <p:sp>
        <p:nvSpPr>
          <p:cNvPr id="10" name="Text 8"/>
          <p:cNvSpPr txBox="1"/>
          <p:nvPr/>
        </p:nvSpPr>
        <p:spPr>
          <a:xfrm>
            <a:off x="8458200" y="3154680"/>
            <a:ext cx="292608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 560 mV</a:t>
            </a:r>
            <a:endParaRPr lang="en-US" sz="3200" dirty="0"/>
          </a:p>
        </p:txBody>
      </p:sp>
      <p:sp>
        <p:nvSpPr>
          <p:cNvPr id="11" name="Text 9"/>
          <p:cNvSpPr txBox="1"/>
          <p:nvPr/>
        </p:nvSpPr>
        <p:spPr>
          <a:xfrm>
            <a:off x="8458200" y="3771900"/>
            <a:ext cx="2926080" cy="548640"/>
          </a:xfrm>
          <a:prstGeom prst="rect">
            <a:avLst/>
          </a:prstGeom>
          <a:noFill/>
          <a:ln/>
        </p:spPr>
        <p:txBody>
          <a:bodyPr wrap="square" lIns="0" tIns="0" rIns="0" bIns="0" rtlCol="0" anchor="t"/>
          <a:lstStyle/>
          <a:p>
            <a:pPr marL="0" indent="0">
              <a:buNone/>
            </a:pPr>
            <a:r>
              <a:rPr lang="en-US" sz="1300" dirty="0">
                <a:solidFill>
                  <a:srgbClr val="A9C1DE"/>
                </a:solidFill>
                <a:latin typeface="Calibri" pitchFamily="34" charset="0"/>
                <a:ea typeface="Calibri" pitchFamily="34" charset="-122"/>
                <a:cs typeface="Calibri" pitchFamily="34" charset="-120"/>
              </a:rPr>
              <a:t>tensión de referencia simulada</a:t>
            </a:r>
            <a:endParaRPr lang="en-US" sz="1300" dirty="0"/>
          </a:p>
        </p:txBody>
      </p:sp>
      <p:sp>
        <p:nvSpPr>
          <p:cNvPr id="12" name="Shape 10"/>
          <p:cNvSpPr/>
          <p:nvPr/>
        </p:nvSpPr>
        <p:spPr>
          <a:xfrm>
            <a:off x="8229600" y="4572000"/>
            <a:ext cx="3383280" cy="1371600"/>
          </a:xfrm>
          <a:prstGeom prst="roundRect">
            <a:avLst>
              <a:gd name="adj" fmla="val 8000"/>
            </a:avLst>
          </a:prstGeom>
          <a:solidFill>
            <a:srgbClr val="163A66"/>
          </a:solidFill>
          <a:ln w="12700">
            <a:solidFill>
              <a:srgbClr val="163A66"/>
            </a:solidFill>
            <a:prstDash val="solid"/>
          </a:ln>
        </p:spPr>
      </p:sp>
      <p:sp>
        <p:nvSpPr>
          <p:cNvPr id="13" name="Text 11"/>
          <p:cNvSpPr txBox="1"/>
          <p:nvPr/>
        </p:nvSpPr>
        <p:spPr>
          <a:xfrm>
            <a:off x="8458200" y="4709160"/>
            <a:ext cx="292608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0–50 °C</a:t>
            </a:r>
            <a:endParaRPr lang="en-US" sz="3200" dirty="0"/>
          </a:p>
        </p:txBody>
      </p:sp>
      <p:sp>
        <p:nvSpPr>
          <p:cNvPr id="14" name="Text 12"/>
          <p:cNvSpPr txBox="1"/>
          <p:nvPr/>
        </p:nvSpPr>
        <p:spPr>
          <a:xfrm>
            <a:off x="8458200" y="5326380"/>
            <a:ext cx="2926080" cy="548640"/>
          </a:xfrm>
          <a:prstGeom prst="rect">
            <a:avLst/>
          </a:prstGeom>
          <a:noFill/>
          <a:ln/>
        </p:spPr>
        <p:txBody>
          <a:bodyPr wrap="square" lIns="0" tIns="0" rIns="0" bIns="0" rtlCol="0" anchor="t"/>
          <a:lstStyle/>
          <a:p>
            <a:pPr marL="0" indent="0">
              <a:buNone/>
            </a:pPr>
            <a:r>
              <a:rPr lang="en-US" sz="1300" dirty="0">
                <a:solidFill>
                  <a:srgbClr val="A9C1DE"/>
                </a:solidFill>
                <a:latin typeface="Calibri" pitchFamily="34" charset="0"/>
                <a:ea typeface="Calibri" pitchFamily="34" charset="-122"/>
                <a:cs typeface="Calibri" pitchFamily="34" charset="-120"/>
              </a:rPr>
              <a:t>rango de interés (invernadero)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Arquitectura adoptada</a:t>
            </a:r>
            <a:endParaRPr lang="en-US" sz="3200" dirty="0"/>
          </a:p>
        </p:txBody>
      </p:sp>
      <p:sp>
        <p:nvSpPr>
          <p:cNvPr id="3" name="Shape 1"/>
          <p:cNvSpPr/>
          <p:nvPr/>
        </p:nvSpPr>
        <p:spPr>
          <a:xfrm>
            <a:off x="640080" y="1463040"/>
            <a:ext cx="2377440" cy="1554480"/>
          </a:xfrm>
          <a:prstGeom prst="roundRect">
            <a:avLst>
              <a:gd name="adj" fmla="val 7059"/>
            </a:avLst>
          </a:prstGeom>
          <a:solidFill>
            <a:srgbClr val="EEF3F7"/>
          </a:solidFill>
          <a:ln w="12700">
            <a:solidFill>
              <a:srgbClr val="EEF3F7"/>
            </a:solidFill>
            <a:prstDash val="solid"/>
          </a:ln>
        </p:spPr>
      </p:sp>
      <p:sp>
        <p:nvSpPr>
          <p:cNvPr id="4" name="Text 2"/>
          <p:cNvSpPr txBox="1"/>
          <p:nvPr/>
        </p:nvSpPr>
        <p:spPr>
          <a:xfrm>
            <a:off x="777240" y="1554480"/>
            <a:ext cx="2103120" cy="1371600"/>
          </a:xfrm>
          <a:prstGeom prst="rect">
            <a:avLst/>
          </a:prstGeom>
          <a:noFill/>
          <a:ln/>
        </p:spPr>
        <p:txBody>
          <a:bodyPr wrap="square" lIns="0" tIns="0" rIns="0" bIns="0" rtlCol="0" anchor="ctr"/>
          <a:lstStyle/>
          <a:p>
            <a:pPr marL="0" indent="0" algn="ctr">
              <a:buNone/>
            </a:pPr>
            <a:r>
              <a:rPr lang="en-US" sz="1400" dirty="0">
                <a:solidFill>
                  <a:srgbClr val="1B2A3A"/>
                </a:solidFill>
                <a:latin typeface="Calibri" pitchFamily="34" charset="0"/>
                <a:ea typeface="Calibri" pitchFamily="34" charset="-122"/>
                <a:cs typeface="Calibri" pitchFamily="34" charset="-120"/>
              </a:rPr>
              <a:t>Charge pump 2×</a:t>
            </a:r>
            <a:endParaRPr lang="en-US" sz="1400" dirty="0"/>
          </a:p>
          <a:p>
            <a:pPr marL="0" indent="0" algn="ctr">
              <a:buNone/>
            </a:pPr>
            <a:r>
              <a:rPr lang="en-US" sz="1400" dirty="0">
                <a:solidFill>
                  <a:srgbClr val="1B2A3A"/>
                </a:solidFill>
                <a:latin typeface="Calibri" pitchFamily="34" charset="0"/>
                <a:ea typeface="Calibri" pitchFamily="34" charset="-122"/>
                <a:cs typeface="Calibri" pitchFamily="34" charset="-120"/>
              </a:rPr>
              <a:t>(≈ 2VDD para los switches)</a:t>
            </a:r>
            <a:endParaRPr lang="en-US" sz="1400" dirty="0"/>
          </a:p>
        </p:txBody>
      </p:sp>
      <p:sp>
        <p:nvSpPr>
          <p:cNvPr id="5" name="Shape 3"/>
          <p:cNvSpPr/>
          <p:nvPr/>
        </p:nvSpPr>
        <p:spPr>
          <a:xfrm>
            <a:off x="3090672" y="2057400"/>
            <a:ext cx="310896" cy="365760"/>
          </a:xfrm>
          <a:prstGeom prst="rightArrow">
            <a:avLst/>
          </a:prstGeom>
          <a:solidFill>
            <a:srgbClr val="0E7C86"/>
          </a:solidFill>
          <a:ln w="12700">
            <a:solidFill>
              <a:srgbClr val="0E7C86"/>
            </a:solidFill>
            <a:prstDash val="solid"/>
          </a:ln>
        </p:spPr>
      </p:sp>
      <p:sp>
        <p:nvSpPr>
          <p:cNvPr id="6" name="Shape 4"/>
          <p:cNvSpPr/>
          <p:nvPr/>
        </p:nvSpPr>
        <p:spPr>
          <a:xfrm>
            <a:off x="3474720" y="1463040"/>
            <a:ext cx="2377440" cy="1554480"/>
          </a:xfrm>
          <a:prstGeom prst="roundRect">
            <a:avLst>
              <a:gd name="adj" fmla="val 7059"/>
            </a:avLst>
          </a:prstGeom>
          <a:solidFill>
            <a:srgbClr val="EEF3F7"/>
          </a:solidFill>
          <a:ln w="12700">
            <a:solidFill>
              <a:srgbClr val="EEF3F7"/>
            </a:solidFill>
            <a:prstDash val="solid"/>
          </a:ln>
        </p:spPr>
      </p:sp>
      <p:sp>
        <p:nvSpPr>
          <p:cNvPr id="7" name="Text 5"/>
          <p:cNvSpPr txBox="1"/>
          <p:nvPr/>
        </p:nvSpPr>
        <p:spPr>
          <a:xfrm>
            <a:off x="3611880" y="1554480"/>
            <a:ext cx="2103120" cy="1371600"/>
          </a:xfrm>
          <a:prstGeom prst="rect">
            <a:avLst/>
          </a:prstGeom>
          <a:noFill/>
          <a:ln/>
        </p:spPr>
        <p:txBody>
          <a:bodyPr wrap="square" lIns="0" tIns="0" rIns="0" bIns="0" rtlCol="0" anchor="ctr"/>
          <a:lstStyle/>
          <a:p>
            <a:pPr marL="0" indent="0" algn="ctr">
              <a:buNone/>
            </a:pPr>
            <a:r>
              <a:rPr lang="en-US" sz="1400" dirty="0">
                <a:solidFill>
                  <a:srgbClr val="1B2A3A"/>
                </a:solidFill>
                <a:latin typeface="Calibri" pitchFamily="34" charset="0"/>
                <a:ea typeface="Calibri" pitchFamily="34" charset="-122"/>
                <a:cs typeface="Calibri" pitchFamily="34" charset="-120"/>
              </a:rPr>
              <a:t>Bipolares Q1 y Q2</a:t>
            </a:r>
            <a:endParaRPr lang="en-US" sz="1400" dirty="0"/>
          </a:p>
          <a:p>
            <a:pPr marL="0" indent="0" algn="ctr">
              <a:buNone/>
            </a:pPr>
            <a:r>
              <a:rPr lang="en-US" sz="1400" dirty="0">
                <a:solidFill>
                  <a:srgbClr val="1B2A3A"/>
                </a:solidFill>
                <a:latin typeface="Calibri" pitchFamily="34" charset="0"/>
                <a:ea typeface="Calibri" pitchFamily="34" charset="-122"/>
                <a:cs typeface="Calibri" pitchFamily="34" charset="-120"/>
              </a:rPr>
              <a:t>(Nx = 1 y Nx = 8)</a:t>
            </a:r>
            <a:endParaRPr lang="en-US" sz="1400" dirty="0"/>
          </a:p>
          <a:p>
            <a:pPr marL="0" indent="0" algn="ctr">
              <a:buNone/>
            </a:pPr>
            <a:r>
              <a:rPr lang="en-US" sz="1400" dirty="0">
                <a:solidFill>
                  <a:srgbClr val="1B2A3A"/>
                </a:solidFill>
                <a:latin typeface="Calibri" pitchFamily="34" charset="0"/>
                <a:ea typeface="Calibri" pitchFamily="34" charset="-122"/>
                <a:cs typeface="Calibri" pitchFamily="34" charset="-120"/>
              </a:rPr>
              <a:t>VBE (CTAT) y ΔVBE (PTAT)</a:t>
            </a:r>
            <a:endParaRPr lang="en-US" sz="1400" dirty="0"/>
          </a:p>
        </p:txBody>
      </p:sp>
      <p:sp>
        <p:nvSpPr>
          <p:cNvPr id="8" name="Shape 6"/>
          <p:cNvSpPr/>
          <p:nvPr/>
        </p:nvSpPr>
        <p:spPr>
          <a:xfrm>
            <a:off x="5925312" y="2057400"/>
            <a:ext cx="310896" cy="365760"/>
          </a:xfrm>
          <a:prstGeom prst="rightArrow">
            <a:avLst/>
          </a:prstGeom>
          <a:solidFill>
            <a:srgbClr val="0E7C86"/>
          </a:solidFill>
          <a:ln w="12700">
            <a:solidFill>
              <a:srgbClr val="0E7C86"/>
            </a:solidFill>
            <a:prstDash val="solid"/>
          </a:ln>
        </p:spPr>
      </p:sp>
      <p:sp>
        <p:nvSpPr>
          <p:cNvPr id="9" name="Shape 7"/>
          <p:cNvSpPr/>
          <p:nvPr/>
        </p:nvSpPr>
        <p:spPr>
          <a:xfrm>
            <a:off x="6309360" y="1463040"/>
            <a:ext cx="2377440" cy="1554480"/>
          </a:xfrm>
          <a:prstGeom prst="roundRect">
            <a:avLst>
              <a:gd name="adj" fmla="val 7059"/>
            </a:avLst>
          </a:prstGeom>
          <a:solidFill>
            <a:srgbClr val="EEF3F7"/>
          </a:solidFill>
          <a:ln w="12700">
            <a:solidFill>
              <a:srgbClr val="EEF3F7"/>
            </a:solidFill>
            <a:prstDash val="solid"/>
          </a:ln>
        </p:spPr>
      </p:sp>
      <p:sp>
        <p:nvSpPr>
          <p:cNvPr id="10" name="Text 8"/>
          <p:cNvSpPr txBox="1"/>
          <p:nvPr/>
        </p:nvSpPr>
        <p:spPr>
          <a:xfrm>
            <a:off x="6446520" y="1554480"/>
            <a:ext cx="2103120" cy="1371600"/>
          </a:xfrm>
          <a:prstGeom prst="rect">
            <a:avLst/>
          </a:prstGeom>
          <a:noFill/>
          <a:ln/>
        </p:spPr>
        <p:txBody>
          <a:bodyPr wrap="square" lIns="0" tIns="0" rIns="0" bIns="0" rtlCol="0" anchor="ctr"/>
          <a:lstStyle/>
          <a:p>
            <a:pPr marL="0" indent="0" algn="ctr">
              <a:buNone/>
            </a:pPr>
            <a:r>
              <a:rPr lang="en-US" sz="1400" dirty="0">
                <a:solidFill>
                  <a:srgbClr val="1B2A3A"/>
                </a:solidFill>
                <a:latin typeface="Calibri" pitchFamily="34" charset="0"/>
                <a:ea typeface="Calibri" pitchFamily="34" charset="-122"/>
                <a:cs typeface="Calibri" pitchFamily="34" charset="-120"/>
              </a:rPr>
              <a:t>Red de capacitores conmutados</a:t>
            </a:r>
            <a:endParaRPr lang="en-US" sz="1400" dirty="0"/>
          </a:p>
          <a:p>
            <a:pPr marL="0" indent="0" algn="ctr">
              <a:buNone/>
            </a:pPr>
            <a:r>
              <a:rPr lang="en-US" sz="1400" dirty="0">
                <a:solidFill>
                  <a:srgbClr val="1B2A3A"/>
                </a:solidFill>
                <a:latin typeface="Calibri" pitchFamily="34" charset="0"/>
                <a:ea typeface="Calibri" pitchFamily="34" charset="-122"/>
                <a:cs typeface="Calibri" pitchFamily="34" charset="-120"/>
              </a:rPr>
              <a:t>fases φ1 y φ2</a:t>
            </a:r>
            <a:endParaRPr lang="en-US" sz="1400" dirty="0"/>
          </a:p>
        </p:txBody>
      </p:sp>
      <p:sp>
        <p:nvSpPr>
          <p:cNvPr id="11" name="Shape 9"/>
          <p:cNvSpPr/>
          <p:nvPr/>
        </p:nvSpPr>
        <p:spPr>
          <a:xfrm>
            <a:off x="8759952" y="2057400"/>
            <a:ext cx="310896" cy="365760"/>
          </a:xfrm>
          <a:prstGeom prst="rightArrow">
            <a:avLst/>
          </a:prstGeom>
          <a:solidFill>
            <a:srgbClr val="0E7C86"/>
          </a:solidFill>
          <a:ln w="12700">
            <a:solidFill>
              <a:srgbClr val="0E7C86"/>
            </a:solidFill>
            <a:prstDash val="solid"/>
          </a:ln>
        </p:spPr>
      </p:sp>
      <p:sp>
        <p:nvSpPr>
          <p:cNvPr id="12" name="Shape 10"/>
          <p:cNvSpPr/>
          <p:nvPr/>
        </p:nvSpPr>
        <p:spPr>
          <a:xfrm>
            <a:off x="9144000" y="1463040"/>
            <a:ext cx="2377440" cy="1554480"/>
          </a:xfrm>
          <a:prstGeom prst="roundRect">
            <a:avLst>
              <a:gd name="adj" fmla="val 7059"/>
            </a:avLst>
          </a:prstGeom>
          <a:solidFill>
            <a:srgbClr val="0E7C86"/>
          </a:solidFill>
          <a:ln w="12700">
            <a:solidFill>
              <a:srgbClr val="0E7C86"/>
            </a:solidFill>
            <a:prstDash val="solid"/>
          </a:ln>
        </p:spPr>
      </p:sp>
      <p:sp>
        <p:nvSpPr>
          <p:cNvPr id="13" name="Text 11"/>
          <p:cNvSpPr txBox="1"/>
          <p:nvPr/>
        </p:nvSpPr>
        <p:spPr>
          <a:xfrm>
            <a:off x="9281160" y="1554480"/>
            <a:ext cx="2103120" cy="13716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VREF</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(capacitor Cref)</a:t>
            </a:r>
            <a:endParaRPr lang="en-US" sz="1400" dirty="0"/>
          </a:p>
        </p:txBody>
      </p:sp>
      <p:sp>
        <p:nvSpPr>
          <p:cNvPr id="14" name="Shape 12"/>
          <p:cNvSpPr/>
          <p:nvPr/>
        </p:nvSpPr>
        <p:spPr>
          <a:xfrm>
            <a:off x="640080" y="3383280"/>
            <a:ext cx="10881360" cy="1188720"/>
          </a:xfrm>
          <a:prstGeom prst="roundRect">
            <a:avLst>
              <a:gd name="adj" fmla="val 9231"/>
            </a:avLst>
          </a:prstGeom>
          <a:solidFill>
            <a:srgbClr val="0B2545"/>
          </a:solidFill>
          <a:ln w="12700">
            <a:solidFill>
              <a:srgbClr val="0B2545"/>
            </a:solidFill>
            <a:prstDash val="solid"/>
          </a:ln>
        </p:spPr>
      </p:sp>
      <p:sp>
        <p:nvSpPr>
          <p:cNvPr id="15" name="Text 13"/>
          <p:cNvSpPr txBox="1"/>
          <p:nvPr/>
        </p:nvSpPr>
        <p:spPr>
          <a:xfrm>
            <a:off x="822960" y="3456432"/>
            <a:ext cx="10515600" cy="59436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VREF = 3·ΔVBE + VBE1 · CA1 / (CA1 + CA2)</a:t>
            </a:r>
            <a:endParaRPr lang="en-US" sz="2800" dirty="0"/>
          </a:p>
        </p:txBody>
      </p:sp>
      <p:sp>
        <p:nvSpPr>
          <p:cNvPr id="16" name="Text 14"/>
          <p:cNvSpPr txBox="1"/>
          <p:nvPr/>
        </p:nvSpPr>
        <p:spPr>
          <a:xfrm>
            <a:off x="822960" y="4041648"/>
            <a:ext cx="10515600" cy="411480"/>
          </a:xfrm>
          <a:prstGeom prst="rect">
            <a:avLst/>
          </a:prstGeom>
          <a:noFill/>
          <a:ln/>
        </p:spPr>
        <p:txBody>
          <a:bodyPr wrap="square" lIns="0" tIns="0" rIns="0" bIns="0" rtlCol="0" anchor="ctr"/>
          <a:lstStyle/>
          <a:p>
            <a:pPr marL="0" indent="0" algn="ctr">
              <a:buNone/>
            </a:pPr>
            <a:r>
              <a:rPr lang="en-US" sz="1400" dirty="0">
                <a:solidFill>
                  <a:srgbClr val="A9C1DE"/>
                </a:solidFill>
                <a:latin typeface="Calibri" pitchFamily="34" charset="0"/>
                <a:ea typeface="Calibri" pitchFamily="34" charset="-122"/>
                <a:cs typeface="Calibri" pitchFamily="34" charset="-120"/>
              </a:rPr>
              <a:t>El factor 3 proviene de la conexión serie de CB1, CB2 y CB3 durante φ1. Valores adoptados: CA1 = 1 pF, CA2 = 1.45 pF.</a:t>
            </a:r>
            <a:endParaRPr lang="en-US" sz="1400" dirty="0"/>
          </a:p>
        </p:txBody>
      </p:sp>
      <p:sp>
        <p:nvSpPr>
          <p:cNvPr id="17" name="Text 15"/>
          <p:cNvSpPr txBox="1"/>
          <p:nvPr/>
        </p:nvSpPr>
        <p:spPr>
          <a:xfrm>
            <a:off x="640080" y="4846320"/>
            <a:ext cx="3474720" cy="320040"/>
          </a:xfrm>
          <a:prstGeom prst="rect">
            <a:avLst/>
          </a:prstGeom>
          <a:noFill/>
          <a:ln/>
        </p:spPr>
        <p:txBody>
          <a:bodyPr wrap="square" lIns="0" tIns="0" rIns="0" bIns="0" rtlCol="0" anchor="ctr"/>
          <a:lstStyle/>
          <a:p>
            <a:pPr marL="0" indent="0">
              <a:buNone/>
            </a:pPr>
            <a:r>
              <a:rPr lang="en-US" sz="1600" b="1" dirty="0">
                <a:solidFill>
                  <a:srgbClr val="0E7C86"/>
                </a:solidFill>
                <a:latin typeface="Calibri" pitchFamily="34" charset="0"/>
                <a:ea typeface="Calibri" pitchFamily="34" charset="-122"/>
                <a:cs typeface="Calibri" pitchFamily="34" charset="-120"/>
              </a:rPr>
              <a:t>Sin resistencias</a:t>
            </a:r>
            <a:endParaRPr lang="en-US" sz="1600" dirty="0"/>
          </a:p>
        </p:txBody>
      </p:sp>
      <p:sp>
        <p:nvSpPr>
          <p:cNvPr id="18" name="Text 16"/>
          <p:cNvSpPr txBox="1"/>
          <p:nvPr/>
        </p:nvSpPr>
        <p:spPr>
          <a:xfrm>
            <a:off x="640080" y="5193792"/>
            <a:ext cx="3474720" cy="822960"/>
          </a:xfrm>
          <a:prstGeom prst="rect">
            <a:avLst/>
          </a:prstGeom>
          <a:noFill/>
          <a:ln/>
        </p:spPr>
        <p:txBody>
          <a:bodyPr wrap="square" lIns="0" tIns="0" rIns="0" bIns="0" rtlCol="0" anchor="t"/>
          <a:lstStyle/>
          <a:p>
            <a:pPr marL="0" indent="0">
              <a:buNone/>
            </a:pPr>
            <a:r>
              <a:rPr lang="en-US" sz="1400" dirty="0">
                <a:solidFill>
                  <a:srgbClr val="1B2A3A"/>
                </a:solidFill>
                <a:latin typeface="Calibri" pitchFamily="34" charset="0"/>
                <a:ea typeface="Calibri" pitchFamily="34" charset="-122"/>
                <a:cs typeface="Calibri" pitchFamily="34" charset="-120"/>
              </a:rPr>
              <a:t>Solo capacitores conmutados, compatible con muy bajo consumo.</a:t>
            </a:r>
            <a:endParaRPr lang="en-US" sz="1400" dirty="0"/>
          </a:p>
        </p:txBody>
      </p:sp>
      <p:sp>
        <p:nvSpPr>
          <p:cNvPr id="19" name="Text 17"/>
          <p:cNvSpPr txBox="1"/>
          <p:nvPr/>
        </p:nvSpPr>
        <p:spPr>
          <a:xfrm>
            <a:off x="4343400" y="4846320"/>
            <a:ext cx="3474720" cy="320040"/>
          </a:xfrm>
          <a:prstGeom prst="rect">
            <a:avLst/>
          </a:prstGeom>
          <a:noFill/>
          <a:ln/>
        </p:spPr>
        <p:txBody>
          <a:bodyPr wrap="square" lIns="0" tIns="0" rIns="0" bIns="0" rtlCol="0" anchor="ctr"/>
          <a:lstStyle/>
          <a:p>
            <a:pPr marL="0" indent="0">
              <a:buNone/>
            </a:pPr>
            <a:r>
              <a:rPr lang="en-US" sz="1600" b="1" dirty="0">
                <a:solidFill>
                  <a:srgbClr val="0E7C86"/>
                </a:solidFill>
                <a:latin typeface="Calibri" pitchFamily="34" charset="0"/>
                <a:ea typeface="Calibri" pitchFamily="34" charset="-122"/>
                <a:cs typeface="Calibri" pitchFamily="34" charset="-120"/>
              </a:rPr>
              <a:t>Aplicación</a:t>
            </a:r>
            <a:endParaRPr lang="en-US" sz="1600" dirty="0"/>
          </a:p>
        </p:txBody>
      </p:sp>
      <p:sp>
        <p:nvSpPr>
          <p:cNvPr id="20" name="Text 18"/>
          <p:cNvSpPr txBox="1"/>
          <p:nvPr/>
        </p:nvSpPr>
        <p:spPr>
          <a:xfrm>
            <a:off x="4343400" y="5193792"/>
            <a:ext cx="3474720" cy="822960"/>
          </a:xfrm>
          <a:prstGeom prst="rect">
            <a:avLst/>
          </a:prstGeom>
          <a:noFill/>
          <a:ln/>
        </p:spPr>
        <p:txBody>
          <a:bodyPr wrap="square" lIns="0" tIns="0" rIns="0" bIns="0" rtlCol="0" anchor="t"/>
          <a:lstStyle/>
          <a:p>
            <a:pPr marL="0" indent="0">
              <a:buNone/>
            </a:pPr>
            <a:r>
              <a:rPr lang="en-US" sz="1400" dirty="0">
                <a:solidFill>
                  <a:srgbClr val="1B2A3A"/>
                </a:solidFill>
                <a:latin typeface="Calibri" pitchFamily="34" charset="0"/>
                <a:ea typeface="Calibri" pitchFamily="34" charset="-122"/>
                <a:cs typeface="Calibri" pitchFamily="34" charset="-120"/>
              </a:rPr>
              <a:t>Sistema para invernadero: interesa 0–50 °C, con VDD ≥ 1.1 V.</a:t>
            </a:r>
            <a:endParaRPr lang="en-US" sz="1400" dirty="0"/>
          </a:p>
        </p:txBody>
      </p:sp>
      <p:sp>
        <p:nvSpPr>
          <p:cNvPr id="21" name="Text 19"/>
          <p:cNvSpPr txBox="1"/>
          <p:nvPr/>
        </p:nvSpPr>
        <p:spPr>
          <a:xfrm>
            <a:off x="8046720" y="4846320"/>
            <a:ext cx="3474720" cy="320040"/>
          </a:xfrm>
          <a:prstGeom prst="rect">
            <a:avLst/>
          </a:prstGeom>
          <a:noFill/>
          <a:ln/>
        </p:spPr>
        <p:txBody>
          <a:bodyPr wrap="square" lIns="0" tIns="0" rIns="0" bIns="0" rtlCol="0" anchor="ctr"/>
          <a:lstStyle/>
          <a:p>
            <a:pPr marL="0" indent="0">
              <a:buNone/>
            </a:pPr>
            <a:r>
              <a:rPr lang="en-US" sz="1600" b="1" dirty="0">
                <a:solidFill>
                  <a:srgbClr val="0E7C86"/>
                </a:solidFill>
                <a:latin typeface="Calibri" pitchFamily="34" charset="0"/>
                <a:ea typeface="Calibri" pitchFamily="34" charset="-122"/>
                <a:cs typeface="Calibri" pitchFamily="34" charset="-120"/>
              </a:rPr>
              <a:t>Referencia</a:t>
            </a:r>
            <a:endParaRPr lang="en-US" sz="1600" dirty="0"/>
          </a:p>
        </p:txBody>
      </p:sp>
      <p:sp>
        <p:nvSpPr>
          <p:cNvPr id="22" name="Text 20"/>
          <p:cNvSpPr txBox="1"/>
          <p:nvPr/>
        </p:nvSpPr>
        <p:spPr>
          <a:xfrm>
            <a:off x="8046720" y="5193792"/>
            <a:ext cx="3474720" cy="822960"/>
          </a:xfrm>
          <a:prstGeom prst="rect">
            <a:avLst/>
          </a:prstGeom>
          <a:noFill/>
          <a:ln/>
        </p:spPr>
        <p:txBody>
          <a:bodyPr wrap="square" lIns="0" tIns="0" rIns="0" bIns="0" rtlCol="0" anchor="t"/>
          <a:lstStyle/>
          <a:p>
            <a:pPr marL="0" indent="0">
              <a:buNone/>
            </a:pPr>
            <a:r>
              <a:rPr lang="en-US" sz="1400" dirty="0">
                <a:solidFill>
                  <a:srgbClr val="1B2A3A"/>
                </a:solidFill>
                <a:latin typeface="Calibri" pitchFamily="34" charset="0"/>
                <a:ea typeface="Calibri" pitchFamily="34" charset="-122"/>
                <a:cs typeface="Calibri" pitchFamily="34" charset="-120"/>
              </a:rPr>
              <a:t>Se mantiene la arquitectura del paper; no se adoptó la de Banba.</a:t>
            </a:r>
            <a:endParaRPr lang="en-US" sz="1400" dirty="0"/>
          </a:p>
        </p:txBody>
      </p:sp>
      <p:sp>
        <p:nvSpPr>
          <p:cNvPr id="23" name="Text 21"/>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dirty="0">
                <a:solidFill>
                  <a:srgbClr val="5B6B7B"/>
                </a:solidFill>
                <a:latin typeface="Calibri" pitchFamily="34" charset="0"/>
                <a:ea typeface="Calibri" pitchFamily="34" charset="-122"/>
                <a:cs typeface="Calibri" pitchFamily="34" charset="-120"/>
              </a:rPr>
              <a:t>Fuente: Bitácora parcial de desarrollo (IHP SG13G2) · Paper: Shrivastava et al., ISSCC 2015, sesión 5.4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Compensación térmica en el rango de interés</a:t>
            </a:r>
            <a:endParaRPr lang="en-US" sz="3200" dirty="0"/>
          </a:p>
        </p:txBody>
      </p:sp>
      <p:graphicFrame>
        <p:nvGraphicFramePr>
          <p:cNvPr id="3" name="Chart 0"/>
          <p:cNvGraphicFramePr/>
          <p:nvPr/>
        </p:nvGraphicFramePr>
        <p:xfrm>
          <a:off x="548640" y="1371600"/>
          <a:ext cx="71323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8138160" y="1371600"/>
            <a:ext cx="3520440" cy="1371600"/>
          </a:xfrm>
          <a:prstGeom prst="roundRect">
            <a:avLst>
              <a:gd name="adj" fmla="val 8000"/>
            </a:avLst>
          </a:prstGeom>
          <a:solidFill>
            <a:srgbClr val="EEF3F7"/>
          </a:solidFill>
          <a:ln w="12700">
            <a:solidFill>
              <a:srgbClr val="EEF3F7"/>
            </a:solidFill>
            <a:prstDash val="solid"/>
          </a:ln>
        </p:spPr>
      </p:sp>
      <p:sp>
        <p:nvSpPr>
          <p:cNvPr id="5" name="Text 2"/>
          <p:cNvSpPr txBox="1"/>
          <p:nvPr/>
        </p:nvSpPr>
        <p:spPr>
          <a:xfrm>
            <a:off x="8366760" y="1508760"/>
            <a:ext cx="3063240" cy="685800"/>
          </a:xfrm>
          <a:prstGeom prst="rect">
            <a:avLst/>
          </a:prstGeom>
          <a:noFill/>
          <a:ln/>
        </p:spPr>
        <p:txBody>
          <a:bodyPr wrap="square" lIns="0" tIns="0" rIns="0" bIns="0" rtlCol="0" anchor="ctr"/>
          <a:lstStyle/>
          <a:p>
            <a:pPr marL="0" indent="0">
              <a:buNone/>
            </a:pPr>
            <a:r>
              <a:rPr lang="en-US" sz="3200" b="1" dirty="0">
                <a:solidFill>
                  <a:srgbClr val="0E7C86"/>
                </a:solidFill>
                <a:latin typeface="Cambria" pitchFamily="34" charset="0"/>
                <a:ea typeface="Cambria" pitchFamily="34" charset="-122"/>
                <a:cs typeface="Cambria" pitchFamily="34" charset="-120"/>
              </a:rPr>
              <a:t>3.6 mV</a:t>
            </a:r>
            <a:endParaRPr lang="en-US" sz="3200" dirty="0"/>
          </a:p>
        </p:txBody>
      </p:sp>
      <p:sp>
        <p:nvSpPr>
          <p:cNvPr id="6" name="Text 3"/>
          <p:cNvSpPr txBox="1"/>
          <p:nvPr/>
        </p:nvSpPr>
        <p:spPr>
          <a:xfrm>
            <a:off x="8366760" y="2125980"/>
            <a:ext cx="3063240" cy="548640"/>
          </a:xfrm>
          <a:prstGeom prst="rect">
            <a:avLst/>
          </a:prstGeom>
          <a:noFill/>
          <a:ln/>
        </p:spPr>
        <p:txBody>
          <a:bodyPr wrap="square" lIns="0" tIns="0" rIns="0" bIns="0" rtlCol="0" anchor="t"/>
          <a:lstStyle/>
          <a:p>
            <a:pPr marL="0" indent="0">
              <a:buNone/>
            </a:pPr>
            <a:r>
              <a:rPr lang="en-US" sz="1300" dirty="0">
                <a:solidFill>
                  <a:srgbClr val="1B2A3A"/>
                </a:solidFill>
                <a:latin typeface="Calibri" pitchFamily="34" charset="0"/>
                <a:ea typeface="Calibri" pitchFamily="34" charset="-122"/>
                <a:cs typeface="Calibri" pitchFamily="34" charset="-120"/>
              </a:rPr>
              <a:t>variación entre 0 y 50 °C (0.64 % de 560 mV)</a:t>
            </a:r>
            <a:endParaRPr lang="en-US" sz="1300" dirty="0"/>
          </a:p>
        </p:txBody>
      </p:sp>
      <p:sp>
        <p:nvSpPr>
          <p:cNvPr id="7" name="Shape 4"/>
          <p:cNvSpPr/>
          <p:nvPr/>
        </p:nvSpPr>
        <p:spPr>
          <a:xfrm>
            <a:off x="8138160" y="2926080"/>
            <a:ext cx="3520440" cy="1371600"/>
          </a:xfrm>
          <a:prstGeom prst="roundRect">
            <a:avLst>
              <a:gd name="adj" fmla="val 8000"/>
            </a:avLst>
          </a:prstGeom>
          <a:solidFill>
            <a:srgbClr val="EEF3F7"/>
          </a:solidFill>
          <a:ln w="12700">
            <a:solidFill>
              <a:srgbClr val="EEF3F7"/>
            </a:solidFill>
            <a:prstDash val="solid"/>
          </a:ln>
        </p:spPr>
      </p:sp>
      <p:sp>
        <p:nvSpPr>
          <p:cNvPr id="8" name="Text 5"/>
          <p:cNvSpPr txBox="1"/>
          <p:nvPr/>
        </p:nvSpPr>
        <p:spPr>
          <a:xfrm>
            <a:off x="8366760" y="3063240"/>
            <a:ext cx="3063240" cy="685800"/>
          </a:xfrm>
          <a:prstGeom prst="rect">
            <a:avLst/>
          </a:prstGeom>
          <a:noFill/>
          <a:ln/>
        </p:spPr>
        <p:txBody>
          <a:bodyPr wrap="square" lIns="0" tIns="0" rIns="0" bIns="0" rtlCol="0" anchor="ctr"/>
          <a:lstStyle/>
          <a:p>
            <a:pPr marL="0" indent="0">
              <a:buNone/>
            </a:pPr>
            <a:r>
              <a:rPr lang="en-US" sz="3200" b="1" dirty="0">
                <a:solidFill>
                  <a:srgbClr val="0E7C86"/>
                </a:solidFill>
                <a:latin typeface="Cambria" pitchFamily="34" charset="0"/>
                <a:ea typeface="Cambria" pitchFamily="34" charset="-122"/>
                <a:cs typeface="Cambria" pitchFamily="34" charset="-120"/>
              </a:rPr>
              <a:t>≈ 129 ppm/°C</a:t>
            </a:r>
            <a:endParaRPr lang="en-US" sz="3200" dirty="0"/>
          </a:p>
        </p:txBody>
      </p:sp>
      <p:sp>
        <p:nvSpPr>
          <p:cNvPr id="9" name="Text 6"/>
          <p:cNvSpPr txBox="1"/>
          <p:nvPr/>
        </p:nvSpPr>
        <p:spPr>
          <a:xfrm>
            <a:off x="8366760" y="3680460"/>
            <a:ext cx="3063240" cy="548640"/>
          </a:xfrm>
          <a:prstGeom prst="rect">
            <a:avLst/>
          </a:prstGeom>
          <a:noFill/>
          <a:ln/>
        </p:spPr>
        <p:txBody>
          <a:bodyPr wrap="square" lIns="0" tIns="0" rIns="0" bIns="0" rtlCol="0" anchor="t"/>
          <a:lstStyle/>
          <a:p>
            <a:pPr marL="0" indent="0">
              <a:buNone/>
            </a:pPr>
            <a:r>
              <a:rPr lang="en-US" sz="1300" dirty="0">
                <a:solidFill>
                  <a:srgbClr val="1B2A3A"/>
                </a:solidFill>
                <a:latin typeface="Calibri" pitchFamily="34" charset="0"/>
                <a:ea typeface="Calibri" pitchFamily="34" charset="-122"/>
                <a:cs typeface="Calibri" pitchFamily="34" charset="-120"/>
              </a:rPr>
              <a:t>método de la caja, calculado sobre 0–50 °C</a:t>
            </a:r>
            <a:endParaRPr lang="en-US" sz="1300" dirty="0"/>
          </a:p>
        </p:txBody>
      </p:sp>
      <p:sp>
        <p:nvSpPr>
          <p:cNvPr id="10" name="Shape 7"/>
          <p:cNvSpPr/>
          <p:nvPr/>
        </p:nvSpPr>
        <p:spPr>
          <a:xfrm>
            <a:off x="8138160" y="4480560"/>
            <a:ext cx="3520440" cy="1371600"/>
          </a:xfrm>
          <a:prstGeom prst="roundRect">
            <a:avLst>
              <a:gd name="adj" fmla="val 8000"/>
            </a:avLst>
          </a:prstGeom>
          <a:solidFill>
            <a:srgbClr val="EEF3F7"/>
          </a:solidFill>
          <a:ln w="12700">
            <a:solidFill>
              <a:srgbClr val="EEF3F7"/>
            </a:solidFill>
            <a:prstDash val="solid"/>
          </a:ln>
        </p:spPr>
      </p:sp>
      <p:sp>
        <p:nvSpPr>
          <p:cNvPr id="11" name="Text 8"/>
          <p:cNvSpPr txBox="1"/>
          <p:nvPr/>
        </p:nvSpPr>
        <p:spPr>
          <a:xfrm>
            <a:off x="8366760" y="4617720"/>
            <a:ext cx="3063240" cy="685800"/>
          </a:xfrm>
          <a:prstGeom prst="rect">
            <a:avLst/>
          </a:prstGeom>
          <a:noFill/>
          <a:ln/>
        </p:spPr>
        <p:txBody>
          <a:bodyPr wrap="square" lIns="0" tIns="0" rIns="0" bIns="0" rtlCol="0" anchor="ctr"/>
          <a:lstStyle/>
          <a:p>
            <a:pPr marL="0" indent="0">
              <a:buNone/>
            </a:pPr>
            <a:r>
              <a:rPr lang="en-US" sz="3200" b="1" dirty="0">
                <a:solidFill>
                  <a:srgbClr val="C77D12"/>
                </a:solidFill>
                <a:latin typeface="Cambria" pitchFamily="34" charset="0"/>
                <a:ea typeface="Cambria" pitchFamily="34" charset="-122"/>
                <a:cs typeface="Cambria" pitchFamily="34" charset="-120"/>
              </a:rPr>
              <a:t>1.3 mV</a:t>
            </a:r>
            <a:endParaRPr lang="en-US" sz="3200" dirty="0"/>
          </a:p>
        </p:txBody>
      </p:sp>
      <p:sp>
        <p:nvSpPr>
          <p:cNvPr id="12" name="Text 9"/>
          <p:cNvSpPr txBox="1"/>
          <p:nvPr/>
        </p:nvSpPr>
        <p:spPr>
          <a:xfrm>
            <a:off x="8366760" y="5234940"/>
            <a:ext cx="3063240" cy="548640"/>
          </a:xfrm>
          <a:prstGeom prst="rect">
            <a:avLst/>
          </a:prstGeom>
          <a:noFill/>
          <a:ln/>
        </p:spPr>
        <p:txBody>
          <a:bodyPr wrap="square" lIns="0" tIns="0" rIns="0" bIns="0" rtlCol="0" anchor="t"/>
          <a:lstStyle/>
          <a:p>
            <a:pPr marL="0" indent="0">
              <a:buNone/>
            </a:pPr>
            <a:r>
              <a:rPr lang="en-US" sz="1300" dirty="0">
                <a:solidFill>
                  <a:srgbClr val="1B2A3A"/>
                </a:solidFill>
                <a:latin typeface="Calibri" pitchFamily="34" charset="0"/>
                <a:ea typeface="Calibri" pitchFamily="34" charset="-122"/>
                <a:cs typeface="Calibri" pitchFamily="34" charset="-120"/>
              </a:rPr>
              <a:t>ripple máximo, creciente con la temperatura</a:t>
            </a:r>
            <a:endParaRPr lang="en-US" sz="1300" dirty="0"/>
          </a:p>
        </p:txBody>
      </p:sp>
      <p:sp>
        <p:nvSpPr>
          <p:cNvPr id="13" name="Text 10"/>
          <p:cNvSpPr txBox="1"/>
          <p:nvPr/>
        </p:nvSpPr>
        <p:spPr>
          <a:xfrm>
            <a:off x="548640" y="5943600"/>
            <a:ext cx="11064240" cy="320040"/>
          </a:xfrm>
          <a:prstGeom prst="rect">
            <a:avLst/>
          </a:prstGeom>
          <a:noFill/>
          <a:ln/>
        </p:spPr>
        <p:txBody>
          <a:bodyPr wrap="square" lIns="0" tIns="0" rIns="0" bIns="0" rtlCol="0" anchor="ctr"/>
          <a:lstStyle/>
          <a:p>
            <a:pPr marL="0" indent="0">
              <a:buNone/>
            </a:pPr>
            <a:r>
              <a:rPr lang="en-US" sz="1200" dirty="0">
                <a:solidFill>
                  <a:srgbClr val="5B6B7B"/>
                </a:solidFill>
                <a:latin typeface="Calibri" pitchFamily="34" charset="0"/>
                <a:ea typeface="Calibri" pitchFamily="34" charset="-122"/>
                <a:cs typeface="Calibri" pitchFamily="34" charset="-120"/>
              </a:rPr>
              <a:t>A 125 °C, VREF = 713.9 mV (fuera del rango de interés). Zona más plana: 10–25 °C.</a:t>
            </a:r>
            <a:endParaRPr lang="en-US" sz="1200" dirty="0"/>
          </a:p>
        </p:txBody>
      </p:sp>
      <p:sp>
        <p:nvSpPr>
          <p:cNvPr id="14" name="Text 11"/>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dirty="0">
                <a:solidFill>
                  <a:srgbClr val="5B6B7B"/>
                </a:solidFill>
                <a:latin typeface="Calibri" pitchFamily="34" charset="0"/>
                <a:ea typeface="Calibri" pitchFamily="34" charset="-122"/>
                <a:cs typeface="Calibri" pitchFamily="34" charset="-120"/>
              </a:rPr>
              <a:t>Fuente: Bitácora parcial de desarrollo (IHP SG13G2), secciones 6 y 7. Promedio de VREF entre 7 y 10 ms (.tran 100n 10m).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Sensibilidad a VDD: el problema principal</a:t>
            </a:r>
            <a:endParaRPr lang="en-US" sz="3200" dirty="0"/>
          </a:p>
        </p:txBody>
      </p:sp>
      <p:graphicFrame>
        <p:nvGraphicFramePr>
          <p:cNvPr id="3" name="Chart 0"/>
          <p:cNvGraphicFramePr/>
          <p:nvPr/>
        </p:nvGraphicFramePr>
        <p:xfrm>
          <a:off x="548640" y="1371600"/>
          <a:ext cx="58521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858000" y="1371600"/>
            <a:ext cx="4800600" cy="1554480"/>
          </a:xfrm>
          <a:prstGeom prst="roundRect">
            <a:avLst>
              <a:gd name="adj" fmla="val 7059"/>
            </a:avLst>
          </a:prstGeom>
          <a:solidFill>
            <a:srgbClr val="FDF1DC"/>
          </a:solidFill>
          <a:ln w="12700">
            <a:solidFill>
              <a:srgbClr val="FDF1DC"/>
            </a:solidFill>
            <a:prstDash val="solid"/>
          </a:ln>
        </p:spPr>
      </p:sp>
      <p:sp>
        <p:nvSpPr>
          <p:cNvPr id="5" name="Text 2"/>
          <p:cNvSpPr txBox="1"/>
          <p:nvPr/>
        </p:nvSpPr>
        <p:spPr>
          <a:xfrm>
            <a:off x="7086600" y="1508760"/>
            <a:ext cx="4343400" cy="777240"/>
          </a:xfrm>
          <a:prstGeom prst="rect">
            <a:avLst/>
          </a:prstGeom>
          <a:noFill/>
          <a:ln/>
        </p:spPr>
        <p:txBody>
          <a:bodyPr wrap="square" lIns="0" tIns="0" rIns="0" bIns="0" rtlCol="0" anchor="ctr"/>
          <a:lstStyle/>
          <a:p>
            <a:pPr marL="0" indent="0">
              <a:buNone/>
            </a:pPr>
            <a:r>
              <a:rPr lang="en-US" sz="3200" b="1" dirty="0">
                <a:solidFill>
                  <a:srgbClr val="C77D12"/>
                </a:solidFill>
                <a:latin typeface="Cambria" pitchFamily="34" charset="0"/>
                <a:ea typeface="Cambria" pitchFamily="34" charset="-122"/>
                <a:cs typeface="Cambria" pitchFamily="34" charset="-120"/>
              </a:rPr>
              <a:t>+53 mV</a:t>
            </a:r>
            <a:endParaRPr lang="en-US" sz="3200" dirty="0"/>
          </a:p>
        </p:txBody>
      </p:sp>
      <p:sp>
        <p:nvSpPr>
          <p:cNvPr id="6" name="Text 3"/>
          <p:cNvSpPr txBox="1"/>
          <p:nvPr/>
        </p:nvSpPr>
        <p:spPr>
          <a:xfrm>
            <a:off x="7086600" y="2226564"/>
            <a:ext cx="4343400" cy="621792"/>
          </a:xfrm>
          <a:prstGeom prst="rect">
            <a:avLst/>
          </a:prstGeom>
          <a:noFill/>
          <a:ln/>
        </p:spPr>
        <p:txBody>
          <a:bodyPr wrap="square" lIns="0" tIns="0" rIns="0" bIns="0" rtlCol="0" anchor="t"/>
          <a:lstStyle/>
          <a:p>
            <a:pPr marL="0" indent="0">
              <a:buNone/>
            </a:pPr>
            <a:r>
              <a:rPr lang="en-US" sz="1300" dirty="0">
                <a:solidFill>
                  <a:srgbClr val="1B2A3A"/>
                </a:solidFill>
                <a:latin typeface="Calibri" pitchFamily="34" charset="0"/>
                <a:ea typeface="Calibri" pitchFamily="34" charset="-122"/>
                <a:cs typeface="Calibri" pitchFamily="34" charset="-120"/>
              </a:rPr>
              <a:t>VREF: 559.7 → 612.7 mV, ≈ 9.5 % para +0.1 V de VDD (antes de reducir los switches)</a:t>
            </a:r>
            <a:endParaRPr lang="en-US" sz="1300" dirty="0"/>
          </a:p>
        </p:txBody>
      </p:sp>
      <p:sp>
        <p:nvSpPr>
          <p:cNvPr id="7" name="Shape 4"/>
          <p:cNvSpPr/>
          <p:nvPr/>
        </p:nvSpPr>
        <p:spPr>
          <a:xfrm>
            <a:off x="6858000" y="3108960"/>
            <a:ext cx="4800600" cy="2743200"/>
          </a:xfrm>
          <a:prstGeom prst="roundRect">
            <a:avLst>
              <a:gd name="adj" fmla="val 4000"/>
            </a:avLst>
          </a:prstGeom>
          <a:solidFill>
            <a:srgbClr val="EEF3F7"/>
          </a:solidFill>
          <a:ln w="12700">
            <a:solidFill>
              <a:srgbClr val="EEF3F7"/>
            </a:solidFill>
            <a:prstDash val="solid"/>
          </a:ln>
        </p:spPr>
      </p:sp>
      <p:sp>
        <p:nvSpPr>
          <p:cNvPr id="8" name="Text 5"/>
          <p:cNvSpPr txBox="1"/>
          <p:nvPr/>
        </p:nvSpPr>
        <p:spPr>
          <a:xfrm>
            <a:off x="7086600" y="3246120"/>
            <a:ext cx="4343400" cy="365760"/>
          </a:xfrm>
          <a:prstGeom prst="rect">
            <a:avLst/>
          </a:prstGeom>
          <a:noFill/>
          <a:ln/>
        </p:spPr>
        <p:txBody>
          <a:bodyPr wrap="square" lIns="0" tIns="0" rIns="0" bIns="0" rtlCol="0" anchor="ctr"/>
          <a:lstStyle/>
          <a:p>
            <a:pPr marL="0" indent="0">
              <a:buNone/>
            </a:pPr>
            <a:r>
              <a:rPr lang="en-US" sz="1600" b="1" dirty="0">
                <a:solidFill>
                  <a:srgbClr val="0E7C86"/>
                </a:solidFill>
                <a:latin typeface="Calibri" pitchFamily="34" charset="0"/>
                <a:ea typeface="Calibri" pitchFamily="34" charset="-122"/>
                <a:cs typeface="Calibri" pitchFamily="34" charset="-120"/>
              </a:rPr>
              <a:t>Rama PTAT durante φ1 (27 °C)</a:t>
            </a:r>
            <a:endParaRPr lang="en-US" sz="1600" dirty="0"/>
          </a:p>
        </p:txBody>
      </p:sp>
      <p:sp>
        <p:nvSpPr>
          <p:cNvPr id="9" name="Text 6"/>
          <p:cNvSpPr txBox="1"/>
          <p:nvPr/>
        </p:nvSpPr>
        <p:spPr>
          <a:xfrm>
            <a:off x="7086600" y="3657600"/>
            <a:ext cx="4343400" cy="2057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Ideal 3ΔVBE: 188.6 mV (3 × 62.88 mV)</a:t>
            </a:r>
            <a:endParaRPr lang="en-US" sz="1400" dirty="0"/>
          </a:p>
          <a:p>
            <a:pPr marL="342900" indent="-3429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Medido a 1.1 V: ≈ 231.2 mV</a:t>
            </a:r>
            <a:endParaRPr lang="en-US" sz="1400" dirty="0"/>
          </a:p>
          <a:p>
            <a:pPr marL="342900" indent="-3429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Medido a 1.2 V: 268–282 mV</a:t>
            </a:r>
            <a:endParaRPr lang="en-US" sz="1400" dirty="0"/>
          </a:p>
          <a:p>
            <a:pPr marL="342900" indent="-3429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El cambio de la rama PTAT (≈ 37 mV) es del orden del cambio de VREF</a:t>
            </a:r>
            <a:endParaRPr lang="en-US" sz="1400" dirty="0"/>
          </a:p>
        </p:txBody>
      </p:sp>
      <p:sp>
        <p:nvSpPr>
          <p:cNvPr id="10" name="Text 7"/>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dirty="0">
                <a:solidFill>
                  <a:srgbClr val="5B6B7B"/>
                </a:solidFill>
                <a:latin typeface="Calibri" pitchFamily="34" charset="0"/>
                <a:ea typeface="Calibri" pitchFamily="34" charset="-122"/>
                <a:cs typeface="Calibri" pitchFamily="34" charset="-120"/>
              </a:rPr>
              <a:t>Fuente: Bitácora parcial de desarrollo (IHP SG13G2), secciones 8, 13, 14 y 15. Mediciones de CB de 51.4–55 mV descartadas por la bitácora.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Diagnóstico y acción correctiva</a:t>
            </a:r>
            <a:endParaRPr lang="en-US" sz="3200" dirty="0"/>
          </a:p>
        </p:txBody>
      </p:sp>
      <p:sp>
        <p:nvSpPr>
          <p:cNvPr id="3" name="Shape 1"/>
          <p:cNvSpPr/>
          <p:nvPr/>
        </p:nvSpPr>
        <p:spPr>
          <a:xfrm>
            <a:off x="548640" y="1371600"/>
            <a:ext cx="3520440" cy="2834640"/>
          </a:xfrm>
          <a:prstGeom prst="roundRect">
            <a:avLst>
              <a:gd name="adj" fmla="val 3871"/>
            </a:avLst>
          </a:prstGeom>
          <a:solidFill>
            <a:srgbClr val="EEF3F7"/>
          </a:solidFill>
          <a:ln w="12700">
            <a:solidFill>
              <a:srgbClr val="EEF3F7"/>
            </a:solidFill>
            <a:prstDash val="solid"/>
          </a:ln>
        </p:spPr>
      </p:sp>
      <p:sp>
        <p:nvSpPr>
          <p:cNvPr id="4" name="Text 2"/>
          <p:cNvSpPr txBox="1"/>
          <p:nvPr/>
        </p:nvSpPr>
        <p:spPr>
          <a:xfrm>
            <a:off x="777240" y="1554480"/>
            <a:ext cx="3063240" cy="274320"/>
          </a:xfrm>
          <a:prstGeom prst="rect">
            <a:avLst/>
          </a:prstGeom>
          <a:noFill/>
          <a:ln/>
        </p:spPr>
        <p:txBody>
          <a:bodyPr wrap="square" lIns="0" tIns="0" rIns="0" bIns="0" rtlCol="0" anchor="ctr"/>
          <a:lstStyle/>
          <a:p>
            <a:pPr marL="0" indent="0">
              <a:buNone/>
            </a:pPr>
            <a:r>
              <a:rPr lang="en-US" sz="1200" b="1" dirty="0">
                <a:solidFill>
                  <a:srgbClr val="5B6B7B"/>
                </a:solidFill>
                <a:latin typeface="Calibri" pitchFamily="34" charset="0"/>
                <a:ea typeface="Calibri" pitchFamily="34" charset="-122"/>
                <a:cs typeface="Calibri" pitchFamily="34" charset="-120"/>
              </a:rPr>
              <a:t>DESCARTADA</a:t>
            </a:r>
            <a:endParaRPr lang="en-US" sz="1200" dirty="0"/>
          </a:p>
        </p:txBody>
      </p:sp>
      <p:sp>
        <p:nvSpPr>
          <p:cNvPr id="5" name="Text 3"/>
          <p:cNvSpPr txBox="1"/>
          <p:nvPr/>
        </p:nvSpPr>
        <p:spPr>
          <a:xfrm>
            <a:off x="777240" y="1874520"/>
            <a:ext cx="3063240" cy="457200"/>
          </a:xfrm>
          <a:prstGeom prst="rect">
            <a:avLst/>
          </a:prstGeom>
          <a:noFill/>
          <a:ln/>
        </p:spPr>
        <p:txBody>
          <a:bodyPr wrap="square" lIns="0" tIns="0" rIns="0" bIns="0"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VBE y ΔVBE</a:t>
            </a:r>
            <a:endParaRPr lang="en-US" sz="2200" dirty="0"/>
          </a:p>
        </p:txBody>
      </p:sp>
      <p:sp>
        <p:nvSpPr>
          <p:cNvPr id="6" name="Text 4"/>
          <p:cNvSpPr txBox="1"/>
          <p:nvPr/>
        </p:nvSpPr>
        <p:spPr>
          <a:xfrm>
            <a:off x="777240" y="2468880"/>
            <a:ext cx="3063240" cy="1554480"/>
          </a:xfrm>
          <a:prstGeom prst="rect">
            <a:avLst/>
          </a:prstGeom>
          <a:noFill/>
          <a:ln/>
        </p:spPr>
        <p:txBody>
          <a:bodyPr wrap="square" lIns="0" tIns="0" rIns="0" bIns="0" rtlCol="0" anchor="t"/>
          <a:lstStyle/>
          <a:p>
            <a:pPr marL="0" indent="0">
              <a:buNone/>
            </a:pPr>
            <a:r>
              <a:rPr lang="en-US" sz="1500" dirty="0">
                <a:solidFill>
                  <a:srgbClr val="1B2A3A"/>
                </a:solidFill>
                <a:latin typeface="Calibri" pitchFamily="34" charset="0"/>
                <a:ea typeface="Calibri" pitchFamily="34" charset="-122"/>
                <a:cs typeface="Calibri" pitchFamily="34" charset="-120"/>
              </a:rPr>
              <a:t>Cambian menos de 1 mV con VDD: no explican la sensibilidad.</a:t>
            </a:r>
            <a:endParaRPr lang="en-US" sz="1500" dirty="0"/>
          </a:p>
        </p:txBody>
      </p:sp>
      <p:sp>
        <p:nvSpPr>
          <p:cNvPr id="7" name="Shape 5"/>
          <p:cNvSpPr/>
          <p:nvPr/>
        </p:nvSpPr>
        <p:spPr>
          <a:xfrm>
            <a:off x="4343400" y="1371600"/>
            <a:ext cx="3520440" cy="2834640"/>
          </a:xfrm>
          <a:prstGeom prst="roundRect">
            <a:avLst>
              <a:gd name="adj" fmla="val 3871"/>
            </a:avLst>
          </a:prstGeom>
          <a:solidFill>
            <a:srgbClr val="EEF3F7"/>
          </a:solidFill>
          <a:ln w="12700">
            <a:solidFill>
              <a:srgbClr val="EEF3F7"/>
            </a:solidFill>
            <a:prstDash val="solid"/>
          </a:ln>
        </p:spPr>
      </p:sp>
      <p:sp>
        <p:nvSpPr>
          <p:cNvPr id="8" name="Text 6"/>
          <p:cNvSpPr txBox="1"/>
          <p:nvPr/>
        </p:nvSpPr>
        <p:spPr>
          <a:xfrm>
            <a:off x="4572000" y="1554480"/>
            <a:ext cx="306324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EXPLICA PARTE</a:t>
            </a:r>
            <a:endParaRPr lang="en-US" sz="1200" dirty="0"/>
          </a:p>
        </p:txBody>
      </p:sp>
      <p:sp>
        <p:nvSpPr>
          <p:cNvPr id="9" name="Text 7"/>
          <p:cNvSpPr txBox="1"/>
          <p:nvPr/>
        </p:nvSpPr>
        <p:spPr>
          <a:xfrm>
            <a:off x="4572000" y="1874520"/>
            <a:ext cx="3063240" cy="457200"/>
          </a:xfrm>
          <a:prstGeom prst="rect">
            <a:avLst/>
          </a:prstGeom>
          <a:noFill/>
          <a:ln/>
        </p:spPr>
        <p:txBody>
          <a:bodyPr wrap="square" lIns="0" tIns="0" rIns="0" bIns="0"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Redistribución de carga</a:t>
            </a:r>
            <a:endParaRPr lang="en-US" sz="2200" dirty="0"/>
          </a:p>
        </p:txBody>
      </p:sp>
      <p:sp>
        <p:nvSpPr>
          <p:cNvPr id="10" name="Text 8"/>
          <p:cNvSpPr txBox="1"/>
          <p:nvPr/>
        </p:nvSpPr>
        <p:spPr>
          <a:xfrm>
            <a:off x="4572000" y="2468880"/>
            <a:ext cx="3063240" cy="1554480"/>
          </a:xfrm>
          <a:prstGeom prst="rect">
            <a:avLst/>
          </a:prstGeom>
          <a:noFill/>
          <a:ln/>
        </p:spPr>
        <p:txBody>
          <a:bodyPr wrap="square" lIns="0" tIns="0" rIns="0" bIns="0" rtlCol="0" anchor="t"/>
          <a:lstStyle/>
          <a:p>
            <a:pPr marL="0" indent="0">
              <a:buNone/>
            </a:pPr>
            <a:r>
              <a:rPr lang="en-US" sz="1500" dirty="0">
                <a:solidFill>
                  <a:srgbClr val="1B2A3A"/>
                </a:solidFill>
                <a:latin typeface="Calibri" pitchFamily="34" charset="0"/>
                <a:ea typeface="Calibri" pitchFamily="34" charset="-122"/>
                <a:cs typeface="Calibri" pitchFamily="34" charset="-120"/>
              </a:rPr>
              <a:t>La transición paralelo → serie genera nodos flotantes, pero no justifica todo el exceso.</a:t>
            </a:r>
            <a:endParaRPr lang="en-US" sz="1500" dirty="0"/>
          </a:p>
        </p:txBody>
      </p:sp>
      <p:sp>
        <p:nvSpPr>
          <p:cNvPr id="11" name="Shape 9"/>
          <p:cNvSpPr/>
          <p:nvPr/>
        </p:nvSpPr>
        <p:spPr>
          <a:xfrm>
            <a:off x="8138160" y="1371600"/>
            <a:ext cx="3520440" cy="2834640"/>
          </a:xfrm>
          <a:prstGeom prst="roundRect">
            <a:avLst>
              <a:gd name="adj" fmla="val 3871"/>
            </a:avLst>
          </a:prstGeom>
          <a:solidFill>
            <a:srgbClr val="EEF3F7"/>
          </a:solidFill>
          <a:ln w="12700">
            <a:solidFill>
              <a:srgbClr val="EEF3F7"/>
            </a:solidFill>
            <a:prstDash val="solid"/>
          </a:ln>
        </p:spPr>
      </p:sp>
      <p:sp>
        <p:nvSpPr>
          <p:cNvPr id="12" name="Text 10"/>
          <p:cNvSpPr txBox="1"/>
          <p:nvPr/>
        </p:nvSpPr>
        <p:spPr>
          <a:xfrm>
            <a:off x="8366760" y="1554480"/>
            <a:ext cx="3063240" cy="274320"/>
          </a:xfrm>
          <a:prstGeom prst="rect">
            <a:avLst/>
          </a:prstGeom>
          <a:noFill/>
          <a:ln/>
        </p:spPr>
        <p:txBody>
          <a:bodyPr wrap="square" lIns="0" tIns="0" rIns="0" bIns="0" rtlCol="0" anchor="ctr"/>
          <a:lstStyle/>
          <a:p>
            <a:pPr marL="0" indent="0">
              <a:buNone/>
            </a:pPr>
            <a:r>
              <a:rPr lang="en-US" sz="1200" b="1" dirty="0">
                <a:solidFill>
                  <a:srgbClr val="C77D12"/>
                </a:solidFill>
                <a:latin typeface="Calibri" pitchFamily="34" charset="0"/>
                <a:ea typeface="Calibri" pitchFamily="34" charset="-122"/>
                <a:cs typeface="Calibri" pitchFamily="34" charset="-120"/>
              </a:rPr>
              <a:t>HIPÓTESIS PRINCIPAL</a:t>
            </a:r>
            <a:endParaRPr lang="en-US" sz="1200" dirty="0"/>
          </a:p>
        </p:txBody>
      </p:sp>
      <p:sp>
        <p:nvSpPr>
          <p:cNvPr id="13" name="Text 11"/>
          <p:cNvSpPr txBox="1"/>
          <p:nvPr/>
        </p:nvSpPr>
        <p:spPr>
          <a:xfrm>
            <a:off x="8366760" y="1874520"/>
            <a:ext cx="3063240" cy="457200"/>
          </a:xfrm>
          <a:prstGeom prst="rect">
            <a:avLst/>
          </a:prstGeom>
          <a:noFill/>
          <a:ln/>
        </p:spPr>
        <p:txBody>
          <a:bodyPr wrap="square" lIns="0" tIns="0" rIns="0" bIns="0"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Parásitas de los switches</a:t>
            </a:r>
            <a:endParaRPr lang="en-US" sz="2200" dirty="0"/>
          </a:p>
        </p:txBody>
      </p:sp>
      <p:sp>
        <p:nvSpPr>
          <p:cNvPr id="14" name="Text 12"/>
          <p:cNvSpPr txBox="1"/>
          <p:nvPr/>
        </p:nvSpPr>
        <p:spPr>
          <a:xfrm>
            <a:off x="8366760" y="2468880"/>
            <a:ext cx="3063240" cy="1554480"/>
          </a:xfrm>
          <a:prstGeom prst="rect">
            <a:avLst/>
          </a:prstGeom>
          <a:noFill/>
          <a:ln/>
        </p:spPr>
        <p:txBody>
          <a:bodyPr wrap="square" lIns="0" tIns="0" rIns="0" bIns="0" rtlCol="0" anchor="t"/>
          <a:lstStyle/>
          <a:p>
            <a:pPr marL="0" indent="0">
              <a:buNone/>
            </a:pPr>
            <a:r>
              <a:rPr lang="en-US" sz="1500" dirty="0">
                <a:solidFill>
                  <a:srgbClr val="1B2A3A"/>
                </a:solidFill>
                <a:latin typeface="Calibri" pitchFamily="34" charset="0"/>
                <a:ea typeface="Calibri" pitchFamily="34" charset="-122"/>
                <a:cs typeface="Calibri" pitchFamily="34" charset="-120"/>
              </a:rPr>
              <a:t>Capacitancias de overlap, Cgd y Cgs, carga de canal, inyección de carga y clock feedthrough.</a:t>
            </a:r>
            <a:endParaRPr lang="en-US" sz="1500" dirty="0"/>
          </a:p>
        </p:txBody>
      </p:sp>
      <p:sp>
        <p:nvSpPr>
          <p:cNvPr id="15" name="Shape 13"/>
          <p:cNvSpPr/>
          <p:nvPr/>
        </p:nvSpPr>
        <p:spPr>
          <a:xfrm>
            <a:off x="548640" y="4526280"/>
            <a:ext cx="11109960" cy="1508760"/>
          </a:xfrm>
          <a:prstGeom prst="roundRect">
            <a:avLst>
              <a:gd name="adj" fmla="val 7273"/>
            </a:avLst>
          </a:prstGeom>
          <a:solidFill>
            <a:srgbClr val="FDF1DC"/>
          </a:solidFill>
          <a:ln w="12700">
            <a:solidFill>
              <a:srgbClr val="FDF1DC"/>
            </a:solidFill>
            <a:prstDash val="solid"/>
          </a:ln>
        </p:spPr>
      </p:sp>
      <p:sp>
        <p:nvSpPr>
          <p:cNvPr id="16" name="Text 14"/>
          <p:cNvSpPr txBox="1"/>
          <p:nvPr/>
        </p:nvSpPr>
        <p:spPr>
          <a:xfrm>
            <a:off x="822960" y="4617720"/>
            <a:ext cx="10561320" cy="1325880"/>
          </a:xfrm>
          <a:prstGeom prst="rect">
            <a:avLst/>
          </a:prstGeom>
          <a:noFill/>
          <a:ln/>
        </p:spPr>
        <p:txBody>
          <a:bodyPr wrap="square" lIns="0" tIns="0" rIns="0" bIns="0" rtlCol="0" anchor="ctr"/>
          <a:lstStyle/>
          <a:p>
            <a:pPr marL="0" indent="0">
              <a:spcAft>
                <a:spcPts val="600"/>
              </a:spcAft>
              <a:buNone/>
            </a:pPr>
            <a:r>
              <a:rPr lang="en-US" sz="1600" b="1" dirty="0">
                <a:solidFill>
                  <a:srgbClr val="C77D12"/>
                </a:solidFill>
                <a:latin typeface="Calibri" pitchFamily="34" charset="0"/>
                <a:ea typeface="Calibri" pitchFamily="34" charset="-122"/>
                <a:cs typeface="Calibri" pitchFamily="34" charset="-120"/>
              </a:rPr>
              <a:t>Acción realizada: </a:t>
            </a:r>
            <a:r>
              <a:rPr lang="en-US" sz="1600" dirty="0">
                <a:solidFill>
                  <a:srgbClr val="1B2A3A"/>
                </a:solidFill>
                <a:latin typeface="Calibri" pitchFamily="34" charset="0"/>
                <a:ea typeface="Calibri" pitchFamily="34" charset="-122"/>
                <a:cs typeface="Calibri" pitchFamily="34" charset="-120"/>
              </a:rPr>
              <a:t>se redujo el tamaño de los switches al mínimo permitido. El circuito mostró una mejora sustancial, lo que respalda la hipótesis de las parásitas y la inyección de carga.</a:t>
            </a:r>
            <a:endParaRPr lang="en-US" sz="1600" dirty="0"/>
          </a:p>
          <a:p>
            <a:pPr marL="0" indent="0">
              <a:spcAft>
                <a:spcPts val="600"/>
              </a:spcAft>
              <a:buNone/>
            </a:pPr>
            <a:r>
              <a:rPr lang="en-US" sz="1600" b="1" dirty="0">
                <a:solidFill>
                  <a:srgbClr val="1B2A3A"/>
                </a:solidFill>
                <a:latin typeface="Calibri" pitchFamily="34" charset="0"/>
                <a:ea typeface="Calibri" pitchFamily="34" charset="-122"/>
                <a:cs typeface="Calibri" pitchFamily="34" charset="-120"/>
              </a:rPr>
              <a:t>Pendiente: cuantificar la mejora con una comparación antes/después.</a:t>
            </a:r>
            <a:endParaRPr lang="en-US" sz="1600" dirty="0"/>
          </a:p>
        </p:txBody>
      </p:sp>
      <p:sp>
        <p:nvSpPr>
          <p:cNvPr id="17" name="Text 15"/>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dirty="0">
                <a:solidFill>
                  <a:srgbClr val="5B6B7B"/>
                </a:solidFill>
                <a:latin typeface="Calibri" pitchFamily="34" charset="0"/>
                <a:ea typeface="Calibri" pitchFamily="34" charset="-122"/>
                <a:cs typeface="Calibri" pitchFamily="34" charset="-120"/>
              </a:rPr>
              <a:t>Fuente: Bitácora parcial de desarrollo (IHP SG13G2), secciones 16, 17 y 21. Segunda etapa del paper (PSR de −52 dB) no implementada por ahora.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Comparación con el paper de referencia</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4279392"/>
        </p:xfrm>
        <a:graphic>
          <a:graphicData uri="http://schemas.openxmlformats.org/drawingml/2006/table">
            <a:tbl>
              <a:tblPr/>
              <a:tblGrid>
                <a:gridCol w="32918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Parámetro</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Paper ISSCC 2015 (medido)</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Este trabajo (simulación)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B2545"/>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Tecnología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0.13 µm CMOS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IHP SG13G2, 130 nm</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Alimentación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0.5 V (mínima medida)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1.1 V</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Tensión de referencia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 500 mV</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 560 mV</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Rango de temperatura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0–80 °C</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0–50 °C</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Variación con la temperatura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75–125 ppm/°C</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 129 ppm/°C (calculado)</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Sensibilidad a VDD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 2 % (0.5–1.5 V)</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 9.5 % (1.1–1.2 V), previo a switches mínimos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Ripple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50 µV</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1.3 mV</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EEF3F7"/>
                    </a:solidFill>
                  </a:tcPr>
                </a:tc>
                <a:extLst>
                  <a:ext uri="{0D108BD9-81ED-4DB2-BD59-A6C34878D82A}">
                    <a16:rowId xmlns:a16="http://schemas.microsoft.com/office/drawing/2014/main" val="10007"/>
                  </a:ext>
                </a:extLst>
              </a:tr>
              <a:tr h="475488">
                <a:tc>
                  <a:txBody>
                    <a:bodyPr/>
                    <a:lstStyle/>
                    <a:p>
                      <a:pPr marL="0" indent="0">
                        <a:buNone/>
                      </a:pPr>
                      <a:r>
                        <a:rPr lang="en-US" sz="1400" b="1" dirty="0">
                          <a:solidFill>
                            <a:srgbClr val="1B2A3A"/>
                          </a:solidFill>
                          <a:latin typeface="Calibri" pitchFamily="34" charset="0"/>
                          <a:ea typeface="Calibri" pitchFamily="34" charset="-122"/>
                          <a:cs typeface="Calibri" pitchFamily="34" charset="-120"/>
                        </a:rPr>
                        <a:t>Potencia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32 nW (0.5 V, 27 °C)</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400" dirty="0">
                          <a:solidFill>
                            <a:srgbClr val="1B2A3A"/>
                          </a:solidFill>
                          <a:latin typeface="Calibri" pitchFamily="34" charset="0"/>
                          <a:ea typeface="Calibri" pitchFamily="34" charset="-122"/>
                          <a:cs typeface="Calibri" pitchFamily="34" charset="-120"/>
                        </a:rPr>
                        <a:t>pendiente de caracterizar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8"/>
                  </a:ext>
                </a:extLst>
              </a:tr>
            </a:tbl>
          </a:graphicData>
        </a:graphic>
      </p:graphicFrame>
      <p:sp>
        <p:nvSpPr>
          <p:cNvPr id="4" name="Text 1"/>
          <p:cNvSpPr txBox="1"/>
          <p:nvPr/>
        </p:nvSpPr>
        <p:spPr>
          <a:xfrm>
            <a:off x="548640" y="5760720"/>
            <a:ext cx="11109960" cy="365760"/>
          </a:xfrm>
          <a:prstGeom prst="rect">
            <a:avLst/>
          </a:prstGeom>
          <a:noFill/>
          <a:ln/>
        </p:spPr>
        <p:txBody>
          <a:bodyPr wrap="square" lIns="0" tIns="0" rIns="0" bIns="0" rtlCol="0" anchor="ctr"/>
          <a:lstStyle/>
          <a:p>
            <a:pPr marL="0" indent="0">
              <a:buNone/>
            </a:pPr>
            <a:r>
              <a:rPr lang="en-US" sz="1200" i="1" dirty="0">
                <a:solidFill>
                  <a:srgbClr val="5B6B7B"/>
                </a:solidFill>
                <a:latin typeface="Calibri" pitchFamily="34" charset="0"/>
                <a:ea typeface="Calibri" pitchFamily="34" charset="-122"/>
                <a:cs typeface="Calibri" pitchFamily="34" charset="-120"/>
              </a:rPr>
              <a:t>Los valores del paper son mediciones sobre 6 chips; los de este trabajo son simulaciones, por lo que la comparación es orientativa.</a:t>
            </a:r>
            <a:endParaRPr lang="en-US" sz="1200" dirty="0"/>
          </a:p>
        </p:txBody>
      </p:sp>
      <p:sp>
        <p:nvSpPr>
          <p:cNvPr id="5" name="Text 2"/>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dirty="0">
                <a:solidFill>
                  <a:srgbClr val="5B6B7B"/>
                </a:solidFill>
                <a:latin typeface="Calibri" pitchFamily="34" charset="0"/>
                <a:ea typeface="Calibri" pitchFamily="34" charset="-122"/>
                <a:cs typeface="Calibri" pitchFamily="34" charset="-120"/>
              </a:rPr>
              <a:t>Paper: Shrivastava et al., ISSCC 2015, sesión 5.4, Fig. 5.4.4–5.4.6 · Fuente: Bitácora parcial de desarrollo (IHP SG13G2)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5C48D1-5278-914A-EC4D-A0E8FF16D6A1}"/>
              </a:ext>
            </a:extLst>
          </p:cNvPr>
          <p:cNvPicPr>
            <a:picLocks noChangeAspect="1"/>
          </p:cNvPicPr>
          <p:nvPr/>
        </p:nvPicPr>
        <p:blipFill>
          <a:blip r:embed="rId2"/>
          <a:stretch>
            <a:fillRect/>
          </a:stretch>
        </p:blipFill>
        <p:spPr>
          <a:xfrm>
            <a:off x="430887" y="0"/>
            <a:ext cx="11330225" cy="6858000"/>
          </a:xfrm>
          <a:prstGeom prst="rect">
            <a:avLst/>
          </a:prstGeom>
        </p:spPr>
      </p:pic>
    </p:spTree>
    <p:extLst>
      <p:ext uri="{BB962C8B-B14F-4D97-AF65-F5344CB8AC3E}">
        <p14:creationId xmlns:p14="http://schemas.microsoft.com/office/powerpoint/2010/main" val="2092060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Estado actual y próximos pasos</a:t>
            </a:r>
            <a:endParaRPr lang="en-US" sz="3200" dirty="0"/>
          </a:p>
        </p:txBody>
      </p:sp>
      <p:sp>
        <p:nvSpPr>
          <p:cNvPr id="3" name="Shape 1"/>
          <p:cNvSpPr/>
          <p:nvPr/>
        </p:nvSpPr>
        <p:spPr>
          <a:xfrm>
            <a:off x="548640" y="1371600"/>
            <a:ext cx="3520440" cy="3566160"/>
          </a:xfrm>
          <a:prstGeom prst="roundRect">
            <a:avLst>
              <a:gd name="adj" fmla="val 3117"/>
            </a:avLst>
          </a:prstGeom>
          <a:solidFill>
            <a:srgbClr val="163A66"/>
          </a:solidFill>
          <a:ln w="12700">
            <a:solidFill>
              <a:srgbClr val="163A66"/>
            </a:solidFill>
            <a:prstDash val="solid"/>
          </a:ln>
        </p:spPr>
      </p:sp>
      <p:sp>
        <p:nvSpPr>
          <p:cNvPr id="4" name="Text 2"/>
          <p:cNvSpPr txBox="1"/>
          <p:nvPr/>
        </p:nvSpPr>
        <p:spPr>
          <a:xfrm>
            <a:off x="777240" y="1508760"/>
            <a:ext cx="3063240" cy="457200"/>
          </a:xfrm>
          <a:prstGeom prst="rect">
            <a:avLst/>
          </a:prstGeom>
          <a:noFill/>
          <a:ln/>
        </p:spPr>
        <p:txBody>
          <a:bodyPr wrap="square" lIns="0" tIns="0" rIns="0" bIns="0" rtlCol="0" anchor="ctr"/>
          <a:lstStyle/>
          <a:p>
            <a:pPr marL="0" indent="0">
              <a:buNone/>
            </a:pPr>
            <a:r>
              <a:rPr lang="en-US" sz="2000" b="1" dirty="0">
                <a:solidFill>
                  <a:srgbClr val="6FD3C8"/>
                </a:solidFill>
                <a:latin typeface="Cambria" pitchFamily="34" charset="0"/>
                <a:ea typeface="Cambria" pitchFamily="34" charset="-122"/>
                <a:cs typeface="Cambria" pitchFamily="34" charset="-120"/>
              </a:rPr>
              <a:t>Funciona</a:t>
            </a:r>
            <a:endParaRPr lang="en-US" sz="2000" dirty="0"/>
          </a:p>
        </p:txBody>
      </p:sp>
      <p:sp>
        <p:nvSpPr>
          <p:cNvPr id="5" name="Text 3"/>
          <p:cNvSpPr txBox="1"/>
          <p:nvPr/>
        </p:nvSpPr>
        <p:spPr>
          <a:xfrm>
            <a:off x="777240" y="205740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Generación de VBE y ΔVBE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Charge pump (≈ 2.2 V en 0.4 ms)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Operación con VDD = 1.1 V</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 de capacitores conmutados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VREF cercana a 0.56 V</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Compensación térmica en 0–50 °C</a:t>
            </a:r>
            <a:endParaRPr lang="en-US" sz="1400" dirty="0"/>
          </a:p>
        </p:txBody>
      </p:sp>
      <p:sp>
        <p:nvSpPr>
          <p:cNvPr id="6" name="Shape 4"/>
          <p:cNvSpPr/>
          <p:nvPr/>
        </p:nvSpPr>
        <p:spPr>
          <a:xfrm>
            <a:off x="4343400" y="1371600"/>
            <a:ext cx="3520440" cy="3566160"/>
          </a:xfrm>
          <a:prstGeom prst="roundRect">
            <a:avLst>
              <a:gd name="adj" fmla="val 3117"/>
            </a:avLst>
          </a:prstGeom>
          <a:solidFill>
            <a:srgbClr val="163A66"/>
          </a:solidFill>
          <a:ln w="12700">
            <a:solidFill>
              <a:srgbClr val="163A66"/>
            </a:solidFill>
            <a:prstDash val="solid"/>
          </a:ln>
        </p:spPr>
      </p:sp>
      <p:sp>
        <p:nvSpPr>
          <p:cNvPr id="7" name="Text 5"/>
          <p:cNvSpPr txBox="1"/>
          <p:nvPr/>
        </p:nvSpPr>
        <p:spPr>
          <a:xfrm>
            <a:off x="4572000" y="1508760"/>
            <a:ext cx="3063240" cy="457200"/>
          </a:xfrm>
          <a:prstGeom prst="rect">
            <a:avLst/>
          </a:prstGeom>
          <a:noFill/>
          <a:ln/>
        </p:spPr>
        <p:txBody>
          <a:bodyPr wrap="square" lIns="0" tIns="0" rIns="0" bIns="0" rtlCol="0" anchor="ctr"/>
          <a:lstStyle/>
          <a:p>
            <a:pPr marL="0" indent="0">
              <a:buNone/>
            </a:pPr>
            <a:r>
              <a:rPr lang="en-US" sz="2000" b="1" dirty="0">
                <a:solidFill>
                  <a:srgbClr val="F2B45C"/>
                </a:solidFill>
                <a:latin typeface="Cambria" pitchFamily="34" charset="0"/>
                <a:ea typeface="Cambria" pitchFamily="34" charset="-122"/>
                <a:cs typeface="Cambria" pitchFamily="34" charset="-120"/>
              </a:rPr>
              <a:t>Parcialmente resuelto</a:t>
            </a:r>
            <a:endParaRPr lang="en-US" sz="2000" dirty="0"/>
          </a:p>
        </p:txBody>
      </p:sp>
      <p:sp>
        <p:nvSpPr>
          <p:cNvPr id="8" name="Text 6"/>
          <p:cNvSpPr txBox="1"/>
          <p:nvPr/>
        </p:nvSpPr>
        <p:spPr>
          <a:xfrm>
            <a:off x="4572000" y="205740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Ripple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Dinámica de CA1 y CA2</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Sensibilidad a VDD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Transferencia de carga PTAT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Efecto de las parásitas</a:t>
            </a:r>
            <a:endParaRPr lang="en-US" sz="1400" dirty="0"/>
          </a:p>
        </p:txBody>
      </p:sp>
      <p:sp>
        <p:nvSpPr>
          <p:cNvPr id="9" name="Shape 7"/>
          <p:cNvSpPr/>
          <p:nvPr/>
        </p:nvSpPr>
        <p:spPr>
          <a:xfrm>
            <a:off x="8138160" y="1371600"/>
            <a:ext cx="3520440" cy="3566160"/>
          </a:xfrm>
          <a:prstGeom prst="roundRect">
            <a:avLst>
              <a:gd name="adj" fmla="val 3117"/>
            </a:avLst>
          </a:prstGeom>
          <a:solidFill>
            <a:srgbClr val="163A66"/>
          </a:solidFill>
          <a:ln w="12700">
            <a:solidFill>
              <a:srgbClr val="163A66"/>
            </a:solidFill>
            <a:prstDash val="solid"/>
          </a:ln>
        </p:spPr>
      </p:sp>
      <p:sp>
        <p:nvSpPr>
          <p:cNvPr id="10" name="Text 8"/>
          <p:cNvSpPr txBox="1"/>
          <p:nvPr/>
        </p:nvSpPr>
        <p:spPr>
          <a:xfrm>
            <a:off x="8366760" y="1508760"/>
            <a:ext cx="3063240" cy="457200"/>
          </a:xfrm>
          <a:prstGeom prst="rect">
            <a:avLst/>
          </a:prstGeom>
          <a:noFill/>
          <a:ln/>
        </p:spPr>
        <p:txBody>
          <a:bodyPr wrap="square" lIns="0" tIns="0" rIns="0" bIns="0" rtlCol="0" anchor="ctr"/>
          <a:lstStyle/>
          <a:p>
            <a:pPr marL="0" indent="0">
              <a:buNone/>
            </a:pPr>
            <a:r>
              <a:rPr lang="en-US" sz="2000" b="1" dirty="0">
                <a:solidFill>
                  <a:srgbClr val="A9C1DE"/>
                </a:solidFill>
                <a:latin typeface="Cambria" pitchFamily="34" charset="0"/>
                <a:ea typeface="Cambria" pitchFamily="34" charset="-122"/>
                <a:cs typeface="Cambria" pitchFamily="34" charset="-120"/>
              </a:rPr>
              <a:t>Pendiente</a:t>
            </a:r>
            <a:endParaRPr lang="en-US" sz="2000" dirty="0"/>
          </a:p>
        </p:txBody>
      </p:sp>
      <p:sp>
        <p:nvSpPr>
          <p:cNvPr id="11" name="Text 9"/>
          <p:cNvSpPr txBox="1"/>
          <p:nvPr/>
        </p:nvSpPr>
        <p:spPr>
          <a:xfrm>
            <a:off x="8366760" y="205740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Cuantificar mejora de switches mínimos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PSRR final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Generación definitiva de fases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Corners de proceso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Comportamiento térmico final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Consumo completo</a:t>
            </a:r>
            <a:endParaRPr lang="en-US" sz="1400" dirty="0"/>
          </a:p>
        </p:txBody>
      </p:sp>
      <p:sp>
        <p:nvSpPr>
          <p:cNvPr id="12" name="Text 10"/>
          <p:cNvSpPr txBox="1"/>
          <p:nvPr/>
        </p:nvSpPr>
        <p:spPr>
          <a:xfrm>
            <a:off x="548640" y="5166360"/>
            <a:ext cx="11109960" cy="868680"/>
          </a:xfrm>
          <a:prstGeom prst="rect">
            <a:avLst/>
          </a:prstGeom>
          <a:noFill/>
          <a:ln/>
        </p:spPr>
        <p:txBody>
          <a:bodyPr wrap="square" lIns="0" tIns="0" rIns="0" bIns="0" rtlCol="0" anchor="ctr"/>
          <a:lstStyle/>
          <a:p>
            <a:pPr marL="0" indent="0">
              <a:buNone/>
            </a:pPr>
            <a:r>
              <a:rPr lang="en-US" sz="1500" b="1" dirty="0">
                <a:solidFill>
                  <a:srgbClr val="6FD3C8"/>
                </a:solidFill>
                <a:latin typeface="Calibri" pitchFamily="34" charset="0"/>
                <a:ea typeface="Calibri" pitchFamily="34" charset="-122"/>
                <a:cs typeface="Calibri" pitchFamily="34" charset="-120"/>
              </a:rPr>
              <a:t>Próxima medición: </a:t>
            </a:r>
            <a:r>
              <a:rPr lang="en-US" sz="1500" dirty="0">
                <a:solidFill>
                  <a:srgbClr val="FFFFFF"/>
                </a:solidFill>
                <a:latin typeface="Calibri" pitchFamily="34" charset="0"/>
                <a:ea typeface="Calibri" pitchFamily="34" charset="-122"/>
                <a:cs typeface="Calibri" pitchFamily="34" charset="-120"/>
              </a:rPr>
              <a:t>repetir a 27 °C con VDD = 1.1 V y 1.2 V (VREF, VBE1, VBE2, ΔVBE, VPTAT,total, VCB1–3 y ripple) para comparar antes/después de los switches mínimos.</a:t>
            </a:r>
            <a:endParaRPr lang="en-US" sz="1500" dirty="0"/>
          </a:p>
        </p:txBody>
      </p:sp>
      <p:sp>
        <p:nvSpPr>
          <p:cNvPr id="13" name="Text 11"/>
          <p:cNvSpPr txBox="1"/>
          <p:nvPr/>
        </p:nvSpPr>
        <p:spPr>
          <a:xfrm>
            <a:off x="548640" y="6355080"/>
            <a:ext cx="11064240" cy="274320"/>
          </a:xfrm>
          <a:prstGeom prst="rect">
            <a:avLst/>
          </a:prstGeom>
          <a:noFill/>
          <a:ln/>
        </p:spPr>
        <p:txBody>
          <a:bodyPr wrap="square" lIns="0" tIns="0" rIns="0" bIns="0" rtlCol="0" anchor="ctr"/>
          <a:lstStyle/>
          <a:p>
            <a:pPr marL="0" indent="0">
              <a:buNone/>
            </a:pPr>
            <a:r>
              <a:rPr lang="en-US" sz="1000" dirty="0">
                <a:solidFill>
                  <a:srgbClr val="A9C1DE"/>
                </a:solidFill>
                <a:latin typeface="Calibri" pitchFamily="34" charset="0"/>
                <a:ea typeface="Calibri" pitchFamily="34" charset="-122"/>
                <a:cs typeface="Calibri" pitchFamily="34" charset="-120"/>
              </a:rPr>
              <a:t>Fuente: Bitácora parcial de desarrollo (IHP SG13G2), secciones 22 y 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1179</Words>
  <Application>Microsoft Office PowerPoint</Application>
  <PresentationFormat>Widescreen</PresentationFormat>
  <Paragraphs>131</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Referencia bandgap de capacitores conmutados: estado de avance</dc:title>
  <dc:subject>PptxGenJS Presentation</dc:subject>
  <dc:creator>PptxGenJS</dc:creator>
  <cp:lastModifiedBy>Home PC</cp:lastModifiedBy>
  <cp:revision>2</cp:revision>
  <dcterms:created xsi:type="dcterms:W3CDTF">2026-09-24T20:23:03Z</dcterms:created>
  <dcterms:modified xsi:type="dcterms:W3CDTF">2026-09-24T20:28:21Z</dcterms:modified>
</cp:coreProperties>
</file>